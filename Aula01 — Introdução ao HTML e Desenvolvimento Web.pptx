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20"/>
  </p:notesMasterIdLst>
  <p:sldIdLst>
    <p:sldId id="256" r:id="rId2"/>
    <p:sldId id="257" r:id="rId3"/>
    <p:sldId id="266" r:id="rId4"/>
    <p:sldId id="267" r:id="rId5"/>
    <p:sldId id="258" r:id="rId6"/>
    <p:sldId id="268" r:id="rId7"/>
    <p:sldId id="259" r:id="rId8"/>
    <p:sldId id="269" r:id="rId9"/>
    <p:sldId id="270" r:id="rId10"/>
    <p:sldId id="271" r:id="rId11"/>
    <p:sldId id="272" r:id="rId12"/>
    <p:sldId id="273" r:id="rId13"/>
    <p:sldId id="275" r:id="rId14"/>
    <p:sldId id="276" r:id="rId15"/>
    <p:sldId id="277" r:id="rId16"/>
    <p:sldId id="278" r:id="rId17"/>
    <p:sldId id="262" r:id="rId18"/>
    <p:sldId id="26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2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2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94A55D-A143-4CF0-B51A-6A56E61563C8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BBB70E-11FE-41BE-B2A3-D5AB1340F56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89822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B9DC1-BD4F-4C15-A5EA-AB58DEA7115A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E2BA87-98C9-4964-8038-17461FF4075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335841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B9DC1-BD4F-4C15-A5EA-AB58DEA7115A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E2BA87-98C9-4964-8038-17461FF4075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193362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B9DC1-BD4F-4C15-A5EA-AB58DEA7115A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E2BA87-98C9-4964-8038-17461FF4075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88172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B9DC1-BD4F-4C15-A5EA-AB58DEA7115A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E2BA87-98C9-4964-8038-17461FF4075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31356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B9DC1-BD4F-4C15-A5EA-AB58DEA7115A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E2BA87-98C9-4964-8038-17461FF4075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879665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B9DC1-BD4F-4C15-A5EA-AB58DEA7115A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E2BA87-98C9-4964-8038-17461FF4075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79384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B9DC1-BD4F-4C15-A5EA-AB58DEA7115A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E2BA87-98C9-4964-8038-17461FF4075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014243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B9DC1-BD4F-4C15-A5EA-AB58DEA7115A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E2BA87-98C9-4964-8038-17461FF4075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74477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B9DC1-BD4F-4C15-A5EA-AB58DEA7115A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E2BA87-98C9-4964-8038-17461FF4075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96566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B9DC1-BD4F-4C15-A5EA-AB58DEA7115A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E2BA87-98C9-4964-8038-17461FF4075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5212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B9DC1-BD4F-4C15-A5EA-AB58DEA7115A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E2BA87-98C9-4964-8038-17461FF40752}" type="slidenum">
              <a:rPr lang="pt-BR" smtClean="0"/>
              <a:t>‹nº›</a:t>
            </a:fld>
            <a:endParaRPr lang="pt-BR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369305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B9DC1-BD4F-4C15-A5EA-AB58DEA7115A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E2BA87-98C9-4964-8038-17461FF4075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894124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o 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B9DC1-BD4F-4C15-A5EA-AB58DEA7115A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E2BA87-98C9-4964-8038-17461FF40752}" type="slidenum">
              <a:rPr lang="pt-BR" smtClean="0"/>
              <a:t>‹nº›</a:t>
            </a:fld>
            <a:endParaRPr lang="pt-BR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0538420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iro ou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B9DC1-BD4F-4C15-A5EA-AB58DEA7115A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E2BA87-98C9-4964-8038-17461FF4075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8804775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B9DC1-BD4F-4C15-A5EA-AB58DEA7115A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E2BA87-98C9-4964-8038-17461FF4075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1474536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B9DC1-BD4F-4C15-A5EA-AB58DEA7115A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E2BA87-98C9-4964-8038-17461FF4075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611337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8B9DC1-BD4F-4C15-A5EA-AB58DEA7115A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A4E2BA87-98C9-4964-8038-17461FF4075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2729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  <p:sldLayoutId id="2147483744" r:id="rId12"/>
    <p:sldLayoutId id="2147483745" r:id="rId13"/>
    <p:sldLayoutId id="2147483746" r:id="rId14"/>
    <p:sldLayoutId id="2147483747" r:id="rId15"/>
    <p:sldLayoutId id="2147483748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>
            <a:extLst>
              <a:ext uri="{FF2B5EF4-FFF2-40B4-BE49-F238E27FC236}">
                <a16:creationId xmlns:a16="http://schemas.microsoft.com/office/drawing/2014/main" id="{90D897C0-548A-9D32-2363-CE524F0C3C82}"/>
              </a:ext>
            </a:extLst>
          </p:cNvPr>
          <p:cNvSpPr txBox="1"/>
          <p:nvPr/>
        </p:nvSpPr>
        <p:spPr>
          <a:xfrm>
            <a:off x="697583" y="1500449"/>
            <a:ext cx="8220173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Introdução ao desenvolvimento web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pt-BR" sz="2800" dirty="0"/>
              <a:t>Conceito de front-</a:t>
            </a:r>
            <a:r>
              <a:rPr lang="pt-BR" sz="2800" dirty="0" err="1"/>
              <a:t>end</a:t>
            </a:r>
            <a:r>
              <a:rPr lang="pt-BR" sz="2800" dirty="0"/>
              <a:t> e </a:t>
            </a:r>
            <a:r>
              <a:rPr lang="pt-BR" sz="2800" dirty="0" err="1"/>
              <a:t>back-end</a:t>
            </a:r>
            <a:r>
              <a:rPr lang="pt-BR" sz="2800" dirty="0"/>
              <a:t>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pt-BR" sz="2800" dirty="0"/>
              <a:t>Relação entre HTML, CSS e Java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pt-BR" sz="2800" dirty="0"/>
              <a:t>Funcionamento de aplicações web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pt-BR" sz="2800" dirty="0"/>
              <a:t>Visual Studio </a:t>
            </a:r>
            <a:r>
              <a:rPr lang="pt-BR" sz="2800" dirty="0" err="1"/>
              <a:t>Code</a:t>
            </a:r>
            <a:r>
              <a:rPr lang="pt-BR" sz="2800" dirty="0"/>
              <a:t> - HTML Preview 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6E2089A8-2C4C-D24F-747E-7631D13FE326}"/>
              </a:ext>
            </a:extLst>
          </p:cNvPr>
          <p:cNvSpPr txBox="1"/>
          <p:nvPr/>
        </p:nvSpPr>
        <p:spPr>
          <a:xfrm>
            <a:off x="697583" y="716796"/>
            <a:ext cx="912514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3200" b="1" dirty="0"/>
              <a:t>Introdução ao Desenvolvimento Web e HTML</a:t>
            </a:r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ABA9BCB0-3741-0D90-5301-EA39698693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712" y="5589223"/>
            <a:ext cx="1193540" cy="1193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46300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5152C-5DFD-AA08-0677-1BABD2C0D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6">
            <a:extLst>
              <a:ext uri="{FF2B5EF4-FFF2-40B4-BE49-F238E27FC236}">
                <a16:creationId xmlns:a16="http://schemas.microsoft.com/office/drawing/2014/main" id="{78885EF6-A78F-D89B-C729-2261B4DF0E62}"/>
              </a:ext>
            </a:extLst>
          </p:cNvPr>
          <p:cNvSpPr txBox="1"/>
          <p:nvPr/>
        </p:nvSpPr>
        <p:spPr>
          <a:xfrm>
            <a:off x="1877690" y="491227"/>
            <a:ext cx="60975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600" dirty="0"/>
              <a:t>Objetivos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AEBCC25-F5E0-62D2-9D16-512892EE6D35}"/>
              </a:ext>
            </a:extLst>
          </p:cNvPr>
          <p:cNvSpPr txBox="1"/>
          <p:nvPr/>
        </p:nvSpPr>
        <p:spPr>
          <a:xfrm>
            <a:off x="513184" y="1528305"/>
            <a:ext cx="906445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dirty="0"/>
              <a:t>Compreender o funcionamento básico da web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dirty="0"/>
              <a:t>Entender a diferença entre front-</a:t>
            </a:r>
            <a:r>
              <a:rPr lang="pt-BR" sz="2400" dirty="0" err="1"/>
              <a:t>end</a:t>
            </a:r>
            <a:r>
              <a:rPr lang="pt-BR" sz="2400" dirty="0"/>
              <a:t> e </a:t>
            </a:r>
            <a:r>
              <a:rPr lang="pt-BR" sz="2400" dirty="0" err="1"/>
              <a:t>back-end</a:t>
            </a:r>
            <a:r>
              <a:rPr lang="pt-BR" sz="2400" dirty="0"/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dirty="0"/>
              <a:t>Conhecer a estrutura de uma página HTML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dirty="0"/>
              <a:t>Aprender as principais </a:t>
            </a:r>
            <a:r>
              <a:rPr lang="pt-BR" sz="2400" dirty="0" err="1"/>
              <a:t>tags</a:t>
            </a:r>
            <a:r>
              <a:rPr lang="pt-BR" sz="2400" dirty="0"/>
              <a:t> HTML</a:t>
            </a:r>
          </a:p>
        </p:txBody>
      </p:sp>
    </p:spTree>
    <p:extLst>
      <p:ext uri="{BB962C8B-B14F-4D97-AF65-F5344CB8AC3E}">
        <p14:creationId xmlns:p14="http://schemas.microsoft.com/office/powerpoint/2010/main" val="28953856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26867-A314-62FF-F19C-5C3A69523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6">
            <a:extLst>
              <a:ext uri="{FF2B5EF4-FFF2-40B4-BE49-F238E27FC236}">
                <a16:creationId xmlns:a16="http://schemas.microsoft.com/office/drawing/2014/main" id="{95A11ADA-35B4-DF2D-0559-ABF8E2FD6D23}"/>
              </a:ext>
            </a:extLst>
          </p:cNvPr>
          <p:cNvSpPr txBox="1"/>
          <p:nvPr/>
        </p:nvSpPr>
        <p:spPr>
          <a:xfrm>
            <a:off x="1925280" y="312696"/>
            <a:ext cx="686992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b="1" dirty="0"/>
              <a:t>O que é Desenvolvimento Web?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9D868F54-E108-4F3B-3EE9-CCCABA1B3584}"/>
              </a:ext>
            </a:extLst>
          </p:cNvPr>
          <p:cNvSpPr txBox="1"/>
          <p:nvPr/>
        </p:nvSpPr>
        <p:spPr>
          <a:xfrm>
            <a:off x="699796" y="1192402"/>
            <a:ext cx="957320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É o processo de criação de: sites; sistemas web; aplicações acessadas pelo navegador. </a:t>
            </a:r>
          </a:p>
          <a:p>
            <a:endParaRPr lang="pt-BR" b="1" dirty="0"/>
          </a:p>
          <a:p>
            <a:r>
              <a:rPr lang="pt-BR" b="1" dirty="0"/>
              <a:t>Exemplos</a:t>
            </a:r>
          </a:p>
          <a:p>
            <a:endParaRPr lang="pt-B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Sistemas acadêmicos;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Internet banking;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E-commerce;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Redes sociais.</a:t>
            </a:r>
          </a:p>
        </p:txBody>
      </p:sp>
    </p:spTree>
    <p:extLst>
      <p:ext uri="{BB962C8B-B14F-4D97-AF65-F5344CB8AC3E}">
        <p14:creationId xmlns:p14="http://schemas.microsoft.com/office/powerpoint/2010/main" val="29475239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6883D-60A8-18CD-7108-083362DFE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6">
            <a:extLst>
              <a:ext uri="{FF2B5EF4-FFF2-40B4-BE49-F238E27FC236}">
                <a16:creationId xmlns:a16="http://schemas.microsoft.com/office/drawing/2014/main" id="{8D5D0620-38F0-501F-135D-59140AF4EB91}"/>
              </a:ext>
            </a:extLst>
          </p:cNvPr>
          <p:cNvSpPr txBox="1"/>
          <p:nvPr/>
        </p:nvSpPr>
        <p:spPr>
          <a:xfrm>
            <a:off x="699796" y="435244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400" b="1" dirty="0"/>
              <a:t>Front-</a:t>
            </a:r>
            <a:r>
              <a:rPr lang="pt-BR" sz="2400" b="1" dirty="0" err="1"/>
              <a:t>end</a:t>
            </a:r>
            <a:r>
              <a:rPr lang="pt-BR" sz="2400" b="1" dirty="0"/>
              <a:t> e Back-</a:t>
            </a:r>
            <a:r>
              <a:rPr lang="pt-BR" sz="2400" b="1" dirty="0" err="1"/>
              <a:t>end</a:t>
            </a:r>
            <a:endParaRPr lang="pt-BR" sz="2400" b="1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09A5D51-263A-053C-6C35-9B3B2A3A4C8C}"/>
              </a:ext>
            </a:extLst>
          </p:cNvPr>
          <p:cNvSpPr txBox="1"/>
          <p:nvPr/>
        </p:nvSpPr>
        <p:spPr>
          <a:xfrm>
            <a:off x="699796" y="1217219"/>
            <a:ext cx="8924105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/>
              <a:t>Front-</a:t>
            </a:r>
            <a:r>
              <a:rPr lang="pt-BR" sz="2000" b="1" dirty="0" err="1"/>
              <a:t>end</a:t>
            </a:r>
            <a:r>
              <a:rPr lang="pt-BR" sz="2000" b="1" dirty="0"/>
              <a:t>: </a:t>
            </a:r>
            <a:r>
              <a:rPr lang="pt-BR" sz="2000" dirty="0"/>
              <a:t>Parte visual do sistema.</a:t>
            </a:r>
          </a:p>
          <a:p>
            <a:r>
              <a:rPr lang="pt-BR" sz="2000" b="1" dirty="0"/>
              <a:t>Tecnologias</a:t>
            </a:r>
          </a:p>
          <a:p>
            <a:r>
              <a:rPr lang="pt-BR" sz="2000" dirty="0"/>
              <a:t>HTML </a:t>
            </a:r>
          </a:p>
          <a:p>
            <a:r>
              <a:rPr lang="pt-BR" sz="2000" dirty="0"/>
              <a:t>CSS </a:t>
            </a:r>
          </a:p>
          <a:p>
            <a:r>
              <a:rPr lang="pt-BR" sz="2000" dirty="0" err="1"/>
              <a:t>JavaScript</a:t>
            </a:r>
            <a:r>
              <a:rPr lang="pt-BR" sz="2000" dirty="0"/>
              <a:t> </a:t>
            </a:r>
          </a:p>
          <a:p>
            <a:r>
              <a:rPr lang="pt-BR" sz="2000" b="1" dirty="0"/>
              <a:t>Responsável por: </a:t>
            </a:r>
            <a:r>
              <a:rPr lang="pt-BR" sz="2000" dirty="0"/>
              <a:t>layout; botões; formulários; menus; interação visual. </a:t>
            </a:r>
          </a:p>
          <a:p>
            <a:br>
              <a:rPr lang="pt-BR" sz="2000" dirty="0"/>
            </a:br>
            <a:r>
              <a:rPr lang="pt-BR" sz="2000" b="1" dirty="0"/>
              <a:t>Back-</a:t>
            </a:r>
            <a:r>
              <a:rPr lang="pt-BR" sz="2000" b="1" dirty="0" err="1"/>
              <a:t>end</a:t>
            </a:r>
            <a:r>
              <a:rPr lang="pt-BR" sz="2000" b="1" dirty="0"/>
              <a:t>: </a:t>
            </a:r>
            <a:r>
              <a:rPr lang="pt-BR" sz="2000" dirty="0"/>
              <a:t>Parte lógica do sistema.</a:t>
            </a:r>
          </a:p>
          <a:p>
            <a:r>
              <a:rPr lang="pt-BR" sz="2000" b="1" dirty="0"/>
              <a:t>Tecnologias</a:t>
            </a:r>
          </a:p>
          <a:p>
            <a:r>
              <a:rPr lang="pt-BR" sz="2000" dirty="0"/>
              <a:t>Java </a:t>
            </a:r>
          </a:p>
          <a:p>
            <a:r>
              <a:rPr lang="pt-BR" sz="2000" dirty="0"/>
              <a:t>C# </a:t>
            </a:r>
          </a:p>
          <a:p>
            <a:r>
              <a:rPr lang="pt-BR" sz="2000" dirty="0"/>
              <a:t>PHP </a:t>
            </a:r>
          </a:p>
          <a:p>
            <a:r>
              <a:rPr lang="pt-BR" sz="2000" dirty="0"/>
              <a:t>Python </a:t>
            </a:r>
          </a:p>
          <a:p>
            <a:r>
              <a:rPr lang="pt-BR" sz="2000" b="1" dirty="0"/>
              <a:t>Responsável por: </a:t>
            </a:r>
            <a:r>
              <a:rPr lang="pt-BR" sz="2000" dirty="0"/>
              <a:t>banco de dados; regras de negócio; autenticação; processamento.</a:t>
            </a:r>
          </a:p>
        </p:txBody>
      </p:sp>
    </p:spTree>
    <p:extLst>
      <p:ext uri="{BB962C8B-B14F-4D97-AF65-F5344CB8AC3E}">
        <p14:creationId xmlns:p14="http://schemas.microsoft.com/office/powerpoint/2010/main" val="3729075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22805-0AA5-4235-3681-14C1D47C2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6">
            <a:extLst>
              <a:ext uri="{FF2B5EF4-FFF2-40B4-BE49-F238E27FC236}">
                <a16:creationId xmlns:a16="http://schemas.microsoft.com/office/drawing/2014/main" id="{7F6B98CB-6CF8-9CBA-387F-36C828C8AAC8}"/>
              </a:ext>
            </a:extLst>
          </p:cNvPr>
          <p:cNvSpPr txBox="1"/>
          <p:nvPr/>
        </p:nvSpPr>
        <p:spPr>
          <a:xfrm>
            <a:off x="1462260" y="246708"/>
            <a:ext cx="804827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 err="1"/>
              <a:t>Exemplo</a:t>
            </a:r>
            <a:r>
              <a:rPr lang="en-US" sz="3200" b="1" dirty="0"/>
              <a:t> </a:t>
            </a:r>
            <a:r>
              <a:rPr lang="en-US" sz="3200" b="1" dirty="0" err="1"/>
              <a:t>Prático</a:t>
            </a:r>
            <a:r>
              <a:rPr lang="en-US" sz="3200" b="1" dirty="0"/>
              <a:t> Front-end x Back-end</a:t>
            </a:r>
            <a:endParaRPr lang="pt-BR" sz="3200" b="1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1709871D-8D1C-2130-941E-548DCDD574AD}"/>
              </a:ext>
            </a:extLst>
          </p:cNvPr>
          <p:cNvSpPr txBox="1"/>
          <p:nvPr/>
        </p:nvSpPr>
        <p:spPr>
          <a:xfrm>
            <a:off x="699796" y="1192402"/>
            <a:ext cx="957320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Exemplo: Tela de Login</a:t>
            </a:r>
          </a:p>
          <a:p>
            <a:endParaRPr lang="pt-BR" b="1" dirty="0"/>
          </a:p>
          <a:p>
            <a:r>
              <a:rPr lang="pt-BR" b="1" dirty="0"/>
              <a:t>Front-</a:t>
            </a:r>
            <a:r>
              <a:rPr lang="pt-BR" b="1" dirty="0" err="1"/>
              <a:t>end</a:t>
            </a:r>
            <a:r>
              <a:rPr lang="pt-BR" b="1" dirty="0"/>
              <a:t>:</a:t>
            </a:r>
          </a:p>
          <a:p>
            <a:r>
              <a:rPr lang="pt-BR" dirty="0"/>
              <a:t>campos de usuário e senha; </a:t>
            </a:r>
          </a:p>
          <a:p>
            <a:r>
              <a:rPr lang="pt-BR" dirty="0"/>
              <a:t>botão “Entrar”; </a:t>
            </a:r>
          </a:p>
          <a:p>
            <a:r>
              <a:rPr lang="pt-BR" dirty="0"/>
              <a:t>aparência visual. </a:t>
            </a:r>
          </a:p>
          <a:p>
            <a:endParaRPr lang="pt-BR" b="1" dirty="0"/>
          </a:p>
          <a:p>
            <a:r>
              <a:rPr lang="pt-BR" b="1" dirty="0"/>
              <a:t>Back-</a:t>
            </a:r>
            <a:r>
              <a:rPr lang="pt-BR" b="1" dirty="0" err="1"/>
              <a:t>end</a:t>
            </a:r>
            <a:r>
              <a:rPr lang="pt-BR" b="1" dirty="0"/>
              <a:t>:</a:t>
            </a:r>
          </a:p>
          <a:p>
            <a:r>
              <a:rPr lang="pt-BR" dirty="0"/>
              <a:t>validar login; </a:t>
            </a:r>
          </a:p>
          <a:p>
            <a:r>
              <a:rPr lang="pt-BR" dirty="0"/>
              <a:t>verificar senha no banco; </a:t>
            </a:r>
          </a:p>
          <a:p>
            <a:r>
              <a:rPr lang="pt-BR" dirty="0"/>
              <a:t>liberar acesso.</a:t>
            </a:r>
          </a:p>
        </p:txBody>
      </p:sp>
    </p:spTree>
    <p:extLst>
      <p:ext uri="{BB962C8B-B14F-4D97-AF65-F5344CB8AC3E}">
        <p14:creationId xmlns:p14="http://schemas.microsoft.com/office/powerpoint/2010/main" val="34303772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DA36E-4A08-E9BD-998B-F7D6F1979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6">
            <a:extLst>
              <a:ext uri="{FF2B5EF4-FFF2-40B4-BE49-F238E27FC236}">
                <a16:creationId xmlns:a16="http://schemas.microsoft.com/office/drawing/2014/main" id="{CCB24DAB-4D8D-07C7-A160-3992A84B4A3C}"/>
              </a:ext>
            </a:extLst>
          </p:cNvPr>
          <p:cNvSpPr txBox="1"/>
          <p:nvPr/>
        </p:nvSpPr>
        <p:spPr>
          <a:xfrm>
            <a:off x="2321206" y="295134"/>
            <a:ext cx="609755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3200" dirty="0"/>
              <a:t>Relação entre HTML, CSS e Java</a:t>
            </a:r>
            <a:endParaRPr lang="pt-BR" sz="3200" b="1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27588C7E-1A9C-9D97-285C-3E7A412B1497}"/>
              </a:ext>
            </a:extLst>
          </p:cNvPr>
          <p:cNvSpPr txBox="1"/>
          <p:nvPr/>
        </p:nvSpPr>
        <p:spPr>
          <a:xfrm>
            <a:off x="3133540" y="1120676"/>
            <a:ext cx="508663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b="1" dirty="0"/>
              <a:t>HTML</a:t>
            </a:r>
          </a:p>
          <a:p>
            <a:pPr>
              <a:buNone/>
            </a:pPr>
            <a:r>
              <a:rPr lang="pt-BR" b="1" dirty="0"/>
              <a:t>Cria</a:t>
            </a:r>
            <a:r>
              <a:rPr lang="pt-BR" dirty="0"/>
              <a:t>: títulos;  textos; imagens. </a:t>
            </a:r>
          </a:p>
          <a:p>
            <a:pPr>
              <a:buNone/>
            </a:pPr>
            <a:endParaRPr lang="pt-BR" b="1" dirty="0"/>
          </a:p>
          <a:p>
            <a:pPr>
              <a:buNone/>
            </a:pPr>
            <a:r>
              <a:rPr lang="pt-BR" b="1" dirty="0"/>
              <a:t>CSS</a:t>
            </a:r>
          </a:p>
          <a:p>
            <a:pPr>
              <a:buNone/>
            </a:pPr>
            <a:r>
              <a:rPr lang="pt-BR" b="1" dirty="0"/>
              <a:t>Define</a:t>
            </a:r>
            <a:r>
              <a:rPr lang="pt-BR" dirty="0"/>
              <a:t>: cores; fontes; alinhamentos. </a:t>
            </a:r>
          </a:p>
          <a:p>
            <a:pPr>
              <a:buNone/>
            </a:pPr>
            <a:endParaRPr lang="pt-BR" b="1" dirty="0"/>
          </a:p>
          <a:p>
            <a:pPr>
              <a:buNone/>
            </a:pPr>
            <a:r>
              <a:rPr lang="pt-BR" b="1" dirty="0"/>
              <a:t>Java</a:t>
            </a:r>
          </a:p>
          <a:p>
            <a:pPr>
              <a:buNone/>
            </a:pPr>
            <a:r>
              <a:rPr lang="pt-BR" b="1" dirty="0"/>
              <a:t>Processa</a:t>
            </a:r>
            <a:r>
              <a:rPr lang="pt-BR" dirty="0"/>
              <a:t>: login; cálculos; regras do sistema.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F02DCB92-6890-091E-0FC6-C758611397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9009" y="3918430"/>
            <a:ext cx="5781948" cy="1712058"/>
          </a:xfrm>
          <a:prstGeom prst="rect">
            <a:avLst/>
          </a:prstGeom>
          <a:ln w="57150">
            <a:solidFill>
              <a:srgbClr val="00B050"/>
            </a:solidFill>
          </a:ln>
        </p:spPr>
      </p:pic>
    </p:spTree>
    <p:extLst>
      <p:ext uri="{BB962C8B-B14F-4D97-AF65-F5344CB8AC3E}">
        <p14:creationId xmlns:p14="http://schemas.microsoft.com/office/powerpoint/2010/main" val="11153724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15A34-326A-2696-91C5-21F4E7B69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6">
            <a:extLst>
              <a:ext uri="{FF2B5EF4-FFF2-40B4-BE49-F238E27FC236}">
                <a16:creationId xmlns:a16="http://schemas.microsoft.com/office/drawing/2014/main" id="{3F602A4F-5958-DB2E-3A1E-D274C39A1A1E}"/>
              </a:ext>
            </a:extLst>
          </p:cNvPr>
          <p:cNvSpPr txBox="1"/>
          <p:nvPr/>
        </p:nvSpPr>
        <p:spPr>
          <a:xfrm>
            <a:off x="1666260" y="549560"/>
            <a:ext cx="728920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600" dirty="0"/>
              <a:t>Funcionamento de Aplicações Web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3C62679C-8730-F7DE-2246-1CC5A1AE72E0}"/>
              </a:ext>
            </a:extLst>
          </p:cNvPr>
          <p:cNvSpPr txBox="1"/>
          <p:nvPr/>
        </p:nvSpPr>
        <p:spPr>
          <a:xfrm>
            <a:off x="3123351" y="1791197"/>
            <a:ext cx="502140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/>
              <a:t>Fluxo básico: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dirty="0"/>
              <a:t>Usuário acessa o navegador;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dirty="0"/>
              <a:t>Navegador envia requisição;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dirty="0"/>
              <a:t>Servidor processa;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dirty="0"/>
              <a:t>Servidor retorna HTML/CSS;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dirty="0"/>
              <a:t>Navegador exibe página.</a:t>
            </a:r>
          </a:p>
        </p:txBody>
      </p:sp>
    </p:spTree>
    <p:extLst>
      <p:ext uri="{BB962C8B-B14F-4D97-AF65-F5344CB8AC3E}">
        <p14:creationId xmlns:p14="http://schemas.microsoft.com/office/powerpoint/2010/main" val="39517949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A133D-23E0-1898-B2A7-5A177E73CB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6">
            <a:extLst>
              <a:ext uri="{FF2B5EF4-FFF2-40B4-BE49-F238E27FC236}">
                <a16:creationId xmlns:a16="http://schemas.microsoft.com/office/drawing/2014/main" id="{E2C2B543-E535-371A-628E-097CBCA64E8E}"/>
              </a:ext>
            </a:extLst>
          </p:cNvPr>
          <p:cNvSpPr txBox="1"/>
          <p:nvPr/>
        </p:nvSpPr>
        <p:spPr>
          <a:xfrm>
            <a:off x="1666260" y="549560"/>
            <a:ext cx="728920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600" dirty="0"/>
              <a:t>Arquitetura Simplificada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F640FE99-6164-93F5-BB9E-A31E5D2069C3}"/>
              </a:ext>
            </a:extLst>
          </p:cNvPr>
          <p:cNvSpPr txBox="1"/>
          <p:nvPr/>
        </p:nvSpPr>
        <p:spPr>
          <a:xfrm>
            <a:off x="933062" y="1696256"/>
            <a:ext cx="957320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/>
              <a:t>Estrutura</a:t>
            </a:r>
          </a:p>
          <a:p>
            <a:r>
              <a:rPr lang="pt-BR" sz="2400" dirty="0"/>
              <a:t>Usuário → Navegador → Servidor Java → Banco de Dados</a:t>
            </a:r>
          </a:p>
          <a:p>
            <a:endParaRPr lang="pt-BR" sz="2400" b="1" dirty="0"/>
          </a:p>
          <a:p>
            <a:r>
              <a:rPr lang="pt-BR" sz="2400" b="1" dirty="0"/>
              <a:t>Explicação</a:t>
            </a:r>
          </a:p>
          <a:p>
            <a:r>
              <a:rPr lang="pt-BR" sz="2400" dirty="0"/>
              <a:t>Navegador interpreta HTML e CSS; </a:t>
            </a:r>
          </a:p>
          <a:p>
            <a:r>
              <a:rPr lang="pt-BR" sz="2400" dirty="0"/>
              <a:t>Java processa informações; </a:t>
            </a:r>
          </a:p>
          <a:p>
            <a:r>
              <a:rPr lang="pt-BR" sz="2400" dirty="0"/>
              <a:t>Banco armazena dados.</a:t>
            </a:r>
          </a:p>
        </p:txBody>
      </p:sp>
    </p:spTree>
    <p:extLst>
      <p:ext uri="{BB962C8B-B14F-4D97-AF65-F5344CB8AC3E}">
        <p14:creationId xmlns:p14="http://schemas.microsoft.com/office/powerpoint/2010/main" val="28806590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705B2-F135-606A-C0DA-8998C1B51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6">
            <a:extLst>
              <a:ext uri="{FF2B5EF4-FFF2-40B4-BE49-F238E27FC236}">
                <a16:creationId xmlns:a16="http://schemas.microsoft.com/office/drawing/2014/main" id="{3216AB94-CED4-C079-898C-0FAF184A4510}"/>
              </a:ext>
            </a:extLst>
          </p:cNvPr>
          <p:cNvSpPr txBox="1"/>
          <p:nvPr/>
        </p:nvSpPr>
        <p:spPr>
          <a:xfrm>
            <a:off x="1666260" y="549560"/>
            <a:ext cx="728920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600" dirty="0"/>
              <a:t>O que é HTML?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E8E4D3C-8A78-AAAD-A487-CA77F254F14A}"/>
              </a:ext>
            </a:extLst>
          </p:cNvPr>
          <p:cNvSpPr txBox="1"/>
          <p:nvPr/>
        </p:nvSpPr>
        <p:spPr>
          <a:xfrm>
            <a:off x="933062" y="1696256"/>
            <a:ext cx="957320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/>
              <a:t>HTML: </a:t>
            </a:r>
            <a:r>
              <a:rPr lang="pt-BR" sz="2400" b="1" dirty="0" err="1"/>
              <a:t>HyperText</a:t>
            </a:r>
            <a:r>
              <a:rPr lang="pt-BR" sz="2400" b="1" dirty="0"/>
              <a:t> Markup </a:t>
            </a:r>
            <a:r>
              <a:rPr lang="pt-BR" sz="2400" b="1" dirty="0" err="1"/>
              <a:t>Language</a:t>
            </a:r>
            <a:endParaRPr lang="pt-BR" sz="2400" b="1" dirty="0"/>
          </a:p>
          <a:p>
            <a:r>
              <a:rPr lang="pt-BR" sz="2400" dirty="0"/>
              <a:t>Linguagem utilizada para estruturar páginas web.</a:t>
            </a:r>
          </a:p>
          <a:p>
            <a:endParaRPr lang="pt-BR" sz="2400" b="1" dirty="0"/>
          </a:p>
          <a:p>
            <a:r>
              <a:rPr lang="pt-BR" sz="2400" b="1" dirty="0"/>
              <a:t>O HTML organiza: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dirty="0"/>
              <a:t>textos;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dirty="0"/>
              <a:t>imagens;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dirty="0"/>
              <a:t>links;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dirty="0"/>
              <a:t>tabelas;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dirty="0"/>
              <a:t>formulários</a:t>
            </a:r>
          </a:p>
        </p:txBody>
      </p:sp>
    </p:spTree>
    <p:extLst>
      <p:ext uri="{BB962C8B-B14F-4D97-AF65-F5344CB8AC3E}">
        <p14:creationId xmlns:p14="http://schemas.microsoft.com/office/powerpoint/2010/main" val="35583808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B316B-E2F7-EA48-BE17-EDD349B0A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6">
            <a:extLst>
              <a:ext uri="{FF2B5EF4-FFF2-40B4-BE49-F238E27FC236}">
                <a16:creationId xmlns:a16="http://schemas.microsoft.com/office/drawing/2014/main" id="{3167ED03-0882-BFFF-82A1-A5B6749AA2E9}"/>
              </a:ext>
            </a:extLst>
          </p:cNvPr>
          <p:cNvSpPr txBox="1"/>
          <p:nvPr/>
        </p:nvSpPr>
        <p:spPr>
          <a:xfrm>
            <a:off x="1666259" y="549560"/>
            <a:ext cx="932520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600" dirty="0"/>
              <a:t>Estrutura Básica do HTML</a:t>
            </a:r>
          </a:p>
          <a:p>
            <a:pPr algn="ctr"/>
            <a:r>
              <a:rPr lang="pt-BR" sz="3600" dirty="0"/>
              <a:t>Utilizando Visual Studio </a:t>
            </a:r>
            <a:r>
              <a:rPr lang="pt-BR" sz="3600" dirty="0" err="1"/>
              <a:t>Code</a:t>
            </a:r>
            <a:r>
              <a:rPr lang="pt-BR" sz="3600" dirty="0"/>
              <a:t> (</a:t>
            </a:r>
            <a:r>
              <a:rPr lang="pt-BR" sz="3600" dirty="0" err="1"/>
              <a:t>Shift+Alt+F</a:t>
            </a:r>
            <a:r>
              <a:rPr lang="pt-BR" sz="3600" dirty="0"/>
              <a:t>)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0BF2A5C-24BA-4F8E-CF1D-904E20162411}"/>
              </a:ext>
            </a:extLst>
          </p:cNvPr>
          <p:cNvSpPr txBox="1"/>
          <p:nvPr/>
        </p:nvSpPr>
        <p:spPr>
          <a:xfrm>
            <a:off x="718456" y="1907235"/>
            <a:ext cx="11206065" cy="4339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/>
              <a:t>&lt;!DOCTYPE </a:t>
            </a:r>
            <a:r>
              <a:rPr lang="pt-BR" sz="2400" b="1" dirty="0" err="1"/>
              <a:t>html</a:t>
            </a:r>
            <a:r>
              <a:rPr lang="pt-BR" sz="2400" b="1" dirty="0"/>
              <a:t>&gt;</a:t>
            </a:r>
            <a:br>
              <a:rPr lang="pt-BR" sz="2400" b="1" dirty="0"/>
            </a:br>
            <a:r>
              <a:rPr lang="pt-BR" sz="2400" b="1" dirty="0"/>
              <a:t>&lt;</a:t>
            </a:r>
            <a:r>
              <a:rPr lang="pt-BR" sz="2400" b="1" dirty="0" err="1"/>
              <a:t>html</a:t>
            </a:r>
            <a:r>
              <a:rPr lang="pt-BR" sz="2400" b="1" dirty="0"/>
              <a:t>&gt;</a:t>
            </a:r>
            <a:br>
              <a:rPr lang="pt-BR" sz="2400" b="1" dirty="0"/>
            </a:br>
            <a:r>
              <a:rPr lang="pt-BR" sz="2400" b="1" dirty="0"/>
              <a:t>&lt;</a:t>
            </a:r>
            <a:r>
              <a:rPr lang="pt-BR" sz="2400" b="1" dirty="0" err="1"/>
              <a:t>head</a:t>
            </a:r>
            <a:r>
              <a:rPr lang="pt-BR" sz="2400" b="1" dirty="0"/>
              <a:t>&gt;</a:t>
            </a:r>
          </a:p>
          <a:p>
            <a:r>
              <a:rPr lang="pt-BR" sz="2400" b="1" dirty="0">
                <a:highlight>
                  <a:srgbClr val="FFFF00"/>
                </a:highlight>
              </a:rPr>
              <a:t>   </a:t>
            </a:r>
            <a:r>
              <a:rPr lang="sv-SE" dirty="0">
                <a:highlight>
                  <a:srgbClr val="FFFF00"/>
                </a:highlight>
              </a:rPr>
              <a:t>&lt;meta charset="UTF-8"&gt;</a:t>
            </a:r>
          </a:p>
          <a:p>
            <a:r>
              <a:rPr lang="sv-SE" dirty="0">
                <a:highlight>
                  <a:srgbClr val="FFFF00"/>
                </a:highlight>
              </a:rPr>
              <a:t>    &lt;!--&lt;meta charset="iso-8859-1"&gt;--&gt;</a:t>
            </a:r>
          </a:p>
          <a:p>
            <a:r>
              <a:rPr lang="pt-BR" sz="2400" b="1" dirty="0"/>
              <a:t> &lt;</a:t>
            </a:r>
            <a:r>
              <a:rPr lang="pt-BR" sz="2400" b="1" dirty="0" err="1"/>
              <a:t>title</a:t>
            </a:r>
            <a:r>
              <a:rPr lang="pt-BR" sz="2400" b="1" dirty="0"/>
              <a:t>&gt;Minha Página&lt;/</a:t>
            </a:r>
            <a:r>
              <a:rPr lang="pt-BR" sz="2400" b="1" dirty="0" err="1"/>
              <a:t>title</a:t>
            </a:r>
            <a:r>
              <a:rPr lang="pt-BR" sz="2400" b="1" dirty="0"/>
              <a:t>&gt;</a:t>
            </a:r>
            <a:br>
              <a:rPr lang="pt-BR" sz="2400" b="1" dirty="0"/>
            </a:br>
            <a:r>
              <a:rPr lang="pt-BR" sz="2400" b="1" dirty="0"/>
              <a:t>&lt;/</a:t>
            </a:r>
            <a:r>
              <a:rPr lang="pt-BR" sz="2400" b="1" dirty="0" err="1"/>
              <a:t>head</a:t>
            </a:r>
            <a:r>
              <a:rPr lang="pt-BR" sz="2400" b="1" dirty="0"/>
              <a:t>&gt;</a:t>
            </a:r>
            <a:br>
              <a:rPr lang="pt-BR" sz="2400" b="1" dirty="0"/>
            </a:br>
            <a:r>
              <a:rPr lang="pt-BR" sz="2400" b="1" dirty="0"/>
              <a:t>&lt;body&gt;</a:t>
            </a:r>
            <a:br>
              <a:rPr lang="pt-BR" sz="2400" b="1" dirty="0"/>
            </a:br>
            <a:r>
              <a:rPr lang="pt-BR" sz="2400" b="1" dirty="0"/>
              <a:t>  &lt;h1&gt;Minha primeira página HTML&lt;/h1&gt;</a:t>
            </a:r>
          </a:p>
          <a:p>
            <a:r>
              <a:rPr lang="pt-BR" dirty="0"/>
              <a:t>   &lt;!--Comentários--&gt;</a:t>
            </a:r>
            <a:br>
              <a:rPr lang="pt-BR" sz="2400" b="1" dirty="0"/>
            </a:br>
            <a:r>
              <a:rPr lang="pt-BR" sz="2400" b="1" dirty="0"/>
              <a:t>&lt;/body&gt;</a:t>
            </a:r>
            <a:br>
              <a:rPr lang="pt-BR" sz="2400" b="1" dirty="0"/>
            </a:br>
            <a:r>
              <a:rPr lang="pt-BR" sz="2400" b="1" dirty="0"/>
              <a:t>&lt;/</a:t>
            </a:r>
            <a:r>
              <a:rPr lang="pt-BR" sz="2400" b="1" dirty="0" err="1"/>
              <a:t>html</a:t>
            </a:r>
            <a:r>
              <a:rPr lang="pt-BR" sz="2400" b="1" dirty="0"/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16530831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711948-FC47-BE5B-C90A-E8A1DF618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6">
            <a:extLst>
              <a:ext uri="{FF2B5EF4-FFF2-40B4-BE49-F238E27FC236}">
                <a16:creationId xmlns:a16="http://schemas.microsoft.com/office/drawing/2014/main" id="{3DD8F6D3-85F8-038A-699A-11B9046B1F0B}"/>
              </a:ext>
            </a:extLst>
          </p:cNvPr>
          <p:cNvSpPr txBox="1"/>
          <p:nvPr/>
        </p:nvSpPr>
        <p:spPr>
          <a:xfrm>
            <a:off x="1666260" y="549560"/>
            <a:ext cx="728920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600" dirty="0"/>
              <a:t>Detalhando a Estrutura HTML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A8D7298-4CE6-0CD5-632B-1AF546FCFAB1}"/>
              </a:ext>
            </a:extLst>
          </p:cNvPr>
          <p:cNvSpPr txBox="1"/>
          <p:nvPr/>
        </p:nvSpPr>
        <p:spPr>
          <a:xfrm>
            <a:off x="933062" y="1696256"/>
            <a:ext cx="9573208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/>
              <a:t>&lt;!DOCTYPE </a:t>
            </a:r>
            <a:r>
              <a:rPr lang="pt-BR" sz="2400" b="1" dirty="0" err="1"/>
              <a:t>html</a:t>
            </a:r>
            <a:r>
              <a:rPr lang="pt-BR" sz="2400" b="1" dirty="0"/>
              <a:t>&gt;</a:t>
            </a:r>
          </a:p>
          <a:p>
            <a:r>
              <a:rPr lang="pt-BR" sz="2400" dirty="0"/>
              <a:t>Define que o documento utiliza HTML5.</a:t>
            </a:r>
          </a:p>
          <a:p>
            <a:r>
              <a:rPr lang="pt-BR" sz="2400" b="1" dirty="0"/>
              <a:t>&lt;</a:t>
            </a:r>
            <a:r>
              <a:rPr lang="pt-BR" sz="2400" b="1" dirty="0" err="1"/>
              <a:t>html</a:t>
            </a:r>
            <a:r>
              <a:rPr lang="pt-BR" sz="2400" b="1" dirty="0"/>
              <a:t>&gt;</a:t>
            </a:r>
            <a:endParaRPr lang="pt-BR" sz="3200" b="1" dirty="0"/>
          </a:p>
          <a:p>
            <a:r>
              <a:rPr lang="pt-BR" sz="2400" dirty="0"/>
              <a:t>Elemento principal da página.</a:t>
            </a:r>
          </a:p>
          <a:p>
            <a:r>
              <a:rPr lang="pt-BR" sz="2400" b="1" dirty="0"/>
              <a:t>&lt;</a:t>
            </a:r>
            <a:r>
              <a:rPr lang="pt-BR" sz="2400" b="1" dirty="0" err="1"/>
              <a:t>head</a:t>
            </a:r>
            <a:r>
              <a:rPr lang="pt-BR" sz="2400" b="1" dirty="0"/>
              <a:t>&gt;</a:t>
            </a:r>
            <a:endParaRPr lang="pt-BR" sz="3200" b="1" dirty="0"/>
          </a:p>
          <a:p>
            <a:r>
              <a:rPr lang="pt-BR" sz="2400" dirty="0"/>
              <a:t>Configurações da página:</a:t>
            </a:r>
          </a:p>
          <a:p>
            <a:r>
              <a:rPr lang="pt-BR" sz="2400" dirty="0"/>
              <a:t>título; </a:t>
            </a:r>
          </a:p>
          <a:p>
            <a:r>
              <a:rPr lang="pt-BR" sz="2400" dirty="0"/>
              <a:t>codificação; </a:t>
            </a:r>
          </a:p>
          <a:p>
            <a:r>
              <a:rPr lang="pt-BR" sz="2400" dirty="0"/>
              <a:t>links CSS. </a:t>
            </a:r>
          </a:p>
          <a:p>
            <a:r>
              <a:rPr lang="pt-BR" sz="2400" b="1" dirty="0"/>
              <a:t>&lt;body&gt;</a:t>
            </a:r>
            <a:endParaRPr lang="pt-BR" sz="3200" b="1" dirty="0"/>
          </a:p>
          <a:p>
            <a:r>
              <a:rPr lang="pt-BR" sz="2400" dirty="0"/>
              <a:t>Conteúdo exibido ao usuário.</a:t>
            </a:r>
          </a:p>
        </p:txBody>
      </p:sp>
    </p:spTree>
    <p:extLst>
      <p:ext uri="{BB962C8B-B14F-4D97-AF65-F5344CB8AC3E}">
        <p14:creationId xmlns:p14="http://schemas.microsoft.com/office/powerpoint/2010/main" val="16728062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4424D-F052-A884-CD83-AB41558C1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6">
            <a:extLst>
              <a:ext uri="{FF2B5EF4-FFF2-40B4-BE49-F238E27FC236}">
                <a16:creationId xmlns:a16="http://schemas.microsoft.com/office/drawing/2014/main" id="{1A0D1F33-07FA-845B-14A0-A5FE8A7F501A}"/>
              </a:ext>
            </a:extLst>
          </p:cNvPr>
          <p:cNvSpPr txBox="1"/>
          <p:nvPr/>
        </p:nvSpPr>
        <p:spPr>
          <a:xfrm>
            <a:off x="1666260" y="549560"/>
            <a:ext cx="728920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600" dirty="0" err="1"/>
              <a:t>Tags</a:t>
            </a:r>
            <a:r>
              <a:rPr lang="pt-BR" sz="3600" dirty="0"/>
              <a:t> HTML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30F8B72D-5EFB-3414-0D2D-6CF882201BFB}"/>
              </a:ext>
            </a:extLst>
          </p:cNvPr>
          <p:cNvSpPr txBox="1"/>
          <p:nvPr/>
        </p:nvSpPr>
        <p:spPr>
          <a:xfrm>
            <a:off x="933062" y="1546966"/>
            <a:ext cx="957320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/>
              <a:t>São marcações utilizadas para criar elementos na página.</a:t>
            </a:r>
          </a:p>
          <a:p>
            <a:r>
              <a:rPr lang="pt-BR" sz="2400" b="1" dirty="0"/>
              <a:t>Exemplo</a:t>
            </a:r>
          </a:p>
          <a:p>
            <a:r>
              <a:rPr lang="pt-BR" dirty="0"/>
              <a:t>&lt;p&gt;Texto da página&lt;/p&gt;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F63B5284-D1E0-7684-ADED-BBB5F8F40323}"/>
              </a:ext>
            </a:extLst>
          </p:cNvPr>
          <p:cNvSpPr txBox="1"/>
          <p:nvPr/>
        </p:nvSpPr>
        <p:spPr>
          <a:xfrm>
            <a:off x="1105013" y="3290500"/>
            <a:ext cx="728920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600" dirty="0" err="1"/>
              <a:t>Tags</a:t>
            </a:r>
            <a:r>
              <a:rPr lang="pt-BR" sz="3600" dirty="0"/>
              <a:t> de Títulos (</a:t>
            </a:r>
            <a:r>
              <a:rPr lang="pt-BR" dirty="0"/>
              <a:t>&lt;h1&gt;</a:t>
            </a:r>
            <a:r>
              <a:rPr lang="pt-BR" sz="3600" dirty="0"/>
              <a:t> até </a:t>
            </a:r>
            <a:r>
              <a:rPr lang="pt-BR" dirty="0"/>
              <a:t>&lt;h6&gt;</a:t>
            </a:r>
            <a:r>
              <a:rPr lang="pt-BR" sz="3600" dirty="0"/>
              <a:t>)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B7CB212A-6D4E-2AAE-7ED9-F735D4EEDC72}"/>
              </a:ext>
            </a:extLst>
          </p:cNvPr>
          <p:cNvSpPr txBox="1"/>
          <p:nvPr/>
        </p:nvSpPr>
        <p:spPr>
          <a:xfrm>
            <a:off x="933062" y="4387704"/>
            <a:ext cx="628560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&lt;h1&gt;Título Principal&lt;/h1&gt;</a:t>
            </a:r>
            <a:br>
              <a:rPr lang="pt-BR" dirty="0"/>
            </a:br>
            <a:r>
              <a:rPr lang="pt-BR" dirty="0"/>
              <a:t>&lt;h2&gt;Subtítulo&lt;/h2&gt;</a:t>
            </a:r>
            <a:br>
              <a:rPr lang="pt-BR" dirty="0"/>
            </a:br>
            <a:r>
              <a:rPr lang="pt-BR" dirty="0"/>
              <a:t>&lt;h3&gt;Título Menor&lt;/h3&gt;</a:t>
            </a:r>
          </a:p>
          <a:p>
            <a:endParaRPr lang="pt-BR" dirty="0"/>
          </a:p>
          <a:p>
            <a:r>
              <a:rPr lang="pt-BR" b="1" dirty="0"/>
              <a:t>Explicação</a:t>
            </a:r>
          </a:p>
          <a:p>
            <a:r>
              <a:rPr lang="pt-BR" dirty="0"/>
              <a:t>&lt;h1&gt; → maior importância; </a:t>
            </a:r>
          </a:p>
          <a:p>
            <a:r>
              <a:rPr lang="pt-BR" dirty="0"/>
              <a:t>&lt;h6&gt; → menor importância.</a:t>
            </a:r>
          </a:p>
        </p:txBody>
      </p:sp>
    </p:spTree>
    <p:extLst>
      <p:ext uri="{BB962C8B-B14F-4D97-AF65-F5344CB8AC3E}">
        <p14:creationId xmlns:p14="http://schemas.microsoft.com/office/powerpoint/2010/main" val="28339033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B63496-111B-468B-E50A-49AFE27D4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6">
            <a:extLst>
              <a:ext uri="{FF2B5EF4-FFF2-40B4-BE49-F238E27FC236}">
                <a16:creationId xmlns:a16="http://schemas.microsoft.com/office/drawing/2014/main" id="{8B43FF6D-F72E-7B50-9348-E765E45561F9}"/>
              </a:ext>
            </a:extLst>
          </p:cNvPr>
          <p:cNvSpPr txBox="1"/>
          <p:nvPr/>
        </p:nvSpPr>
        <p:spPr>
          <a:xfrm>
            <a:off x="1666260" y="211545"/>
            <a:ext cx="728920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600" dirty="0"/>
              <a:t>Parágrafos (</a:t>
            </a:r>
            <a:r>
              <a:rPr lang="pt-BR" dirty="0"/>
              <a:t>&lt;p&gt;</a:t>
            </a:r>
            <a:r>
              <a:rPr lang="pt-BR" sz="3600" dirty="0"/>
              <a:t>)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A8296A50-F7B9-98F8-8E46-52DC9F3206B9}"/>
              </a:ext>
            </a:extLst>
          </p:cNvPr>
          <p:cNvSpPr txBox="1"/>
          <p:nvPr/>
        </p:nvSpPr>
        <p:spPr>
          <a:xfrm>
            <a:off x="942874" y="1250616"/>
            <a:ext cx="9573208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/>
              <a:t>Texto em parágrafos</a:t>
            </a:r>
          </a:p>
          <a:p>
            <a:r>
              <a:rPr lang="pt-BR" dirty="0"/>
              <a:t>&lt;p&gt;Este é um parágrafo HTML.&lt;/p&gt;</a:t>
            </a:r>
          </a:p>
          <a:p>
            <a:endParaRPr lang="pt-BR" dirty="0"/>
          </a:p>
          <a:p>
            <a:r>
              <a:rPr lang="pt-BR" b="1" dirty="0"/>
              <a:t>Utilizado para:</a:t>
            </a:r>
          </a:p>
          <a:p>
            <a:r>
              <a:rPr lang="pt-BR" dirty="0"/>
              <a:t>descrições; </a:t>
            </a:r>
          </a:p>
          <a:p>
            <a:r>
              <a:rPr lang="pt-BR" dirty="0"/>
              <a:t>conteúdos; </a:t>
            </a:r>
          </a:p>
          <a:p>
            <a:r>
              <a:rPr lang="pt-BR" dirty="0"/>
              <a:t>textos informativos.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22D986B4-FD69-5EED-D2C1-A51427A17E6E}"/>
              </a:ext>
            </a:extLst>
          </p:cNvPr>
          <p:cNvSpPr txBox="1"/>
          <p:nvPr/>
        </p:nvSpPr>
        <p:spPr>
          <a:xfrm>
            <a:off x="633673" y="3429000"/>
            <a:ext cx="728920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600" dirty="0"/>
              <a:t>Quebra de Linha (</a:t>
            </a:r>
            <a:r>
              <a:rPr lang="pt-BR" dirty="0"/>
              <a:t>&lt;</a:t>
            </a:r>
            <a:r>
              <a:rPr lang="pt-BR" dirty="0" err="1"/>
              <a:t>br</a:t>
            </a:r>
            <a:r>
              <a:rPr lang="pt-BR" dirty="0"/>
              <a:t>&gt;</a:t>
            </a:r>
            <a:r>
              <a:rPr lang="pt-BR" sz="3600" dirty="0"/>
              <a:t>)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B3A09D7-C4FE-F180-B48E-49A1EF2A2F80}"/>
              </a:ext>
            </a:extLst>
          </p:cNvPr>
          <p:cNvSpPr txBox="1"/>
          <p:nvPr/>
        </p:nvSpPr>
        <p:spPr>
          <a:xfrm>
            <a:off x="524258" y="4245798"/>
            <a:ext cx="9573208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/>
              <a:t>Quebra de linha</a:t>
            </a:r>
          </a:p>
          <a:p>
            <a:r>
              <a:rPr lang="pt-BR" dirty="0"/>
              <a:t>Primeira linha&lt;</a:t>
            </a:r>
            <a:r>
              <a:rPr lang="pt-BR" dirty="0" err="1"/>
              <a:t>br</a:t>
            </a:r>
            <a:r>
              <a:rPr lang="pt-BR" dirty="0"/>
              <a:t>&gt;</a:t>
            </a:r>
            <a:br>
              <a:rPr lang="pt-BR" dirty="0"/>
            </a:br>
            <a:r>
              <a:rPr lang="pt-BR" dirty="0"/>
              <a:t>Segunda linha</a:t>
            </a:r>
          </a:p>
          <a:p>
            <a:r>
              <a:rPr lang="pt-BR" sz="2400" b="1" dirty="0"/>
              <a:t>Resultado</a:t>
            </a:r>
          </a:p>
          <a:p>
            <a:r>
              <a:rPr lang="pt-BR" sz="2400" dirty="0"/>
              <a:t>Primeira linha</a:t>
            </a:r>
            <a:br>
              <a:rPr lang="pt-BR" sz="2400" dirty="0"/>
            </a:br>
            <a:r>
              <a:rPr lang="pt-BR" sz="2400" dirty="0"/>
              <a:t>Segunda linha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37578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030305-428B-F50C-7064-066E20AB9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6">
            <a:extLst>
              <a:ext uri="{FF2B5EF4-FFF2-40B4-BE49-F238E27FC236}">
                <a16:creationId xmlns:a16="http://schemas.microsoft.com/office/drawing/2014/main" id="{DF3AADFA-0C2C-6670-20CC-FC7B93945821}"/>
              </a:ext>
            </a:extLst>
          </p:cNvPr>
          <p:cNvSpPr txBox="1"/>
          <p:nvPr/>
        </p:nvSpPr>
        <p:spPr>
          <a:xfrm>
            <a:off x="1666260" y="243275"/>
            <a:ext cx="728920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600" dirty="0"/>
              <a:t>Links (</a:t>
            </a:r>
            <a:r>
              <a:rPr lang="pt-BR" dirty="0"/>
              <a:t>&lt;a&gt;</a:t>
            </a:r>
            <a:r>
              <a:rPr lang="pt-BR" sz="3600" dirty="0"/>
              <a:t>)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61214D5B-CBF8-2868-BF89-070BD8C41A72}"/>
              </a:ext>
            </a:extLst>
          </p:cNvPr>
          <p:cNvSpPr txBox="1"/>
          <p:nvPr/>
        </p:nvSpPr>
        <p:spPr>
          <a:xfrm>
            <a:off x="979715" y="1043192"/>
            <a:ext cx="9573208" cy="2769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/>
              <a:t>Criando links</a:t>
            </a:r>
          </a:p>
          <a:p>
            <a:r>
              <a:rPr lang="pt-BR" dirty="0"/>
              <a:t>&lt;a </a:t>
            </a:r>
            <a:r>
              <a:rPr lang="pt-BR" dirty="0" err="1"/>
              <a:t>href</a:t>
            </a:r>
            <a:r>
              <a:rPr lang="pt-BR" dirty="0"/>
              <a:t>="https://www.google.com"&gt;</a:t>
            </a:r>
            <a:br>
              <a:rPr lang="pt-BR" dirty="0"/>
            </a:br>
            <a:r>
              <a:rPr lang="pt-BR" dirty="0"/>
              <a:t>    Acessar Google</a:t>
            </a:r>
            <a:br>
              <a:rPr lang="pt-BR" dirty="0"/>
            </a:br>
            <a:r>
              <a:rPr lang="pt-BR" dirty="0"/>
              <a:t>&lt;/a&gt;</a:t>
            </a:r>
          </a:p>
          <a:p>
            <a:r>
              <a:rPr lang="pt-BR" sz="2400" b="1" dirty="0"/>
              <a:t>Utilizado para:</a:t>
            </a:r>
          </a:p>
          <a:p>
            <a:r>
              <a:rPr lang="pt-BR" sz="2400" dirty="0"/>
              <a:t>navegar entre páginas; </a:t>
            </a:r>
          </a:p>
          <a:p>
            <a:r>
              <a:rPr lang="pt-BR" sz="2400" dirty="0"/>
              <a:t>acessar sites; </a:t>
            </a:r>
          </a:p>
          <a:p>
            <a:r>
              <a:rPr lang="pt-BR" sz="2400" dirty="0"/>
              <a:t>downloads.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1F383ABD-52E8-10D9-46EA-61D8350351F0}"/>
              </a:ext>
            </a:extLst>
          </p:cNvPr>
          <p:cNvSpPr txBox="1"/>
          <p:nvPr/>
        </p:nvSpPr>
        <p:spPr>
          <a:xfrm>
            <a:off x="1317405" y="3881926"/>
            <a:ext cx="728920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600" dirty="0"/>
              <a:t>Imagens (</a:t>
            </a:r>
            <a:r>
              <a:rPr lang="pt-BR" dirty="0"/>
              <a:t>&lt;</a:t>
            </a:r>
            <a:r>
              <a:rPr lang="pt-BR" dirty="0" err="1"/>
              <a:t>img</a:t>
            </a:r>
            <a:r>
              <a:rPr lang="pt-BR" dirty="0"/>
              <a:t>&gt;</a:t>
            </a:r>
            <a:r>
              <a:rPr lang="pt-BR" sz="3600" dirty="0"/>
              <a:t>)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6898B09-0783-0BFA-36D8-EF0E290ED727}"/>
              </a:ext>
            </a:extLst>
          </p:cNvPr>
          <p:cNvSpPr txBox="1"/>
          <p:nvPr/>
        </p:nvSpPr>
        <p:spPr>
          <a:xfrm>
            <a:off x="645749" y="4597002"/>
            <a:ext cx="9573208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/>
              <a:t>Inserindo imagens</a:t>
            </a:r>
          </a:p>
          <a:p>
            <a:r>
              <a:rPr lang="pt-BR" dirty="0"/>
              <a:t>&lt;</a:t>
            </a:r>
            <a:r>
              <a:rPr lang="pt-BR" dirty="0" err="1"/>
              <a:t>img</a:t>
            </a:r>
            <a:r>
              <a:rPr lang="pt-BR" dirty="0"/>
              <a:t> </a:t>
            </a:r>
            <a:r>
              <a:rPr lang="pt-BR" dirty="0" err="1"/>
              <a:t>src</a:t>
            </a:r>
            <a:r>
              <a:rPr lang="pt-BR" dirty="0"/>
              <a:t>="imagem.jpg" </a:t>
            </a:r>
            <a:r>
              <a:rPr lang="pt-BR" dirty="0" err="1"/>
              <a:t>alt</a:t>
            </a:r>
            <a:r>
              <a:rPr lang="pt-BR" dirty="0"/>
              <a:t>="Descrição"&gt;</a:t>
            </a:r>
          </a:p>
          <a:p>
            <a:r>
              <a:rPr lang="pt-BR" sz="2400" b="1" dirty="0"/>
              <a:t>Explicação</a:t>
            </a:r>
          </a:p>
          <a:p>
            <a:r>
              <a:rPr lang="pt-BR" dirty="0" err="1"/>
              <a:t>src</a:t>
            </a:r>
            <a:r>
              <a:rPr lang="pt-BR" sz="2400" dirty="0"/>
              <a:t> → caminho da imagem; </a:t>
            </a:r>
          </a:p>
          <a:p>
            <a:r>
              <a:rPr lang="pt-BR" dirty="0" err="1"/>
              <a:t>alt</a:t>
            </a:r>
            <a:r>
              <a:rPr lang="pt-BR" sz="2400" dirty="0"/>
              <a:t> → descrição da imagem.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623525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E9C55-1E26-7124-BBB5-4B20E8AFE0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6">
            <a:extLst>
              <a:ext uri="{FF2B5EF4-FFF2-40B4-BE49-F238E27FC236}">
                <a16:creationId xmlns:a16="http://schemas.microsoft.com/office/drawing/2014/main" id="{37E286FC-0254-83F5-C2CC-0AC1CF569D0D}"/>
              </a:ext>
            </a:extLst>
          </p:cNvPr>
          <p:cNvSpPr txBox="1"/>
          <p:nvPr/>
        </p:nvSpPr>
        <p:spPr>
          <a:xfrm>
            <a:off x="1666260" y="243275"/>
            <a:ext cx="728920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600" dirty="0"/>
              <a:t>Divisões (</a:t>
            </a:r>
            <a:r>
              <a:rPr lang="pt-BR" dirty="0"/>
              <a:t>&lt;</a:t>
            </a:r>
            <a:r>
              <a:rPr lang="pt-BR" dirty="0" err="1"/>
              <a:t>div</a:t>
            </a:r>
            <a:r>
              <a:rPr lang="pt-BR" dirty="0"/>
              <a:t>&gt;</a:t>
            </a:r>
            <a:r>
              <a:rPr lang="pt-BR" sz="3600" dirty="0"/>
              <a:t>)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0478C34-523F-D15F-E589-CF04EB780C34}"/>
              </a:ext>
            </a:extLst>
          </p:cNvPr>
          <p:cNvSpPr txBox="1"/>
          <p:nvPr/>
        </p:nvSpPr>
        <p:spPr>
          <a:xfrm>
            <a:off x="979715" y="1033667"/>
            <a:ext cx="957320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/>
              <a:t>Organização da página</a:t>
            </a:r>
          </a:p>
          <a:p>
            <a:r>
              <a:rPr lang="pt-BR" dirty="0"/>
              <a:t>&lt;</a:t>
            </a:r>
            <a:r>
              <a:rPr lang="pt-BR" dirty="0" err="1"/>
              <a:t>div</a:t>
            </a:r>
            <a:r>
              <a:rPr lang="pt-BR" dirty="0"/>
              <a:t> </a:t>
            </a:r>
            <a:r>
              <a:rPr lang="pt-BR" dirty="0" err="1"/>
              <a:t>style</a:t>
            </a:r>
            <a:r>
              <a:rPr lang="pt-BR" dirty="0"/>
              <a:t>="</a:t>
            </a:r>
            <a:r>
              <a:rPr lang="pt-BR" dirty="0" err="1"/>
              <a:t>border</a:t>
            </a:r>
            <a:r>
              <a:rPr lang="pt-BR" dirty="0"/>
              <a:t>: 2px </a:t>
            </a:r>
            <a:r>
              <a:rPr lang="pt-BR" dirty="0" err="1"/>
              <a:t>solid</a:t>
            </a:r>
            <a:r>
              <a:rPr lang="pt-BR" dirty="0"/>
              <a:t> black</a:t>
            </a:r>
            <a:r>
              <a:rPr lang="pt-BR" u="sng" dirty="0"/>
              <a:t>;"&gt;</a:t>
            </a:r>
            <a:br>
              <a:rPr lang="pt-BR" dirty="0"/>
            </a:br>
            <a:r>
              <a:rPr lang="pt-BR" dirty="0"/>
              <a:t>    &lt;h1&gt;Área do Sistema&lt;/h1&gt;</a:t>
            </a:r>
            <a:br>
              <a:rPr lang="pt-BR" dirty="0"/>
            </a:br>
            <a:r>
              <a:rPr lang="pt-BR" dirty="0"/>
              <a:t>    &lt;p&gt;Conteúdo interno&lt;/p&gt;</a:t>
            </a:r>
            <a:br>
              <a:rPr lang="pt-BR" dirty="0"/>
            </a:br>
            <a:r>
              <a:rPr lang="pt-BR" dirty="0"/>
              <a:t>&lt;/</a:t>
            </a:r>
            <a:r>
              <a:rPr lang="pt-BR" dirty="0" err="1"/>
              <a:t>div</a:t>
            </a:r>
            <a:r>
              <a:rPr lang="pt-BR" dirty="0"/>
              <a:t>&gt;</a:t>
            </a:r>
          </a:p>
          <a:p>
            <a:r>
              <a:rPr lang="pt-BR" sz="2400" b="1" dirty="0"/>
              <a:t>Utilizado para:</a:t>
            </a:r>
          </a:p>
          <a:p>
            <a:r>
              <a:rPr lang="pt-BR" sz="2400" dirty="0"/>
              <a:t>separar conteúdos; </a:t>
            </a:r>
          </a:p>
          <a:p>
            <a:r>
              <a:rPr lang="pt-BR" sz="2400" dirty="0"/>
              <a:t>criar layouts; </a:t>
            </a:r>
          </a:p>
          <a:p>
            <a:r>
              <a:rPr lang="pt-BR" sz="2400" dirty="0"/>
              <a:t>aplicar CSS.</a:t>
            </a:r>
          </a:p>
          <a:p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17064994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C6B5D-78FD-4BAA-CFE2-1C3CD3010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6">
            <a:extLst>
              <a:ext uri="{FF2B5EF4-FFF2-40B4-BE49-F238E27FC236}">
                <a16:creationId xmlns:a16="http://schemas.microsoft.com/office/drawing/2014/main" id="{E9604997-168D-F63D-130C-EFAB182702E8}"/>
              </a:ext>
            </a:extLst>
          </p:cNvPr>
          <p:cNvSpPr txBox="1"/>
          <p:nvPr/>
        </p:nvSpPr>
        <p:spPr>
          <a:xfrm>
            <a:off x="837585" y="0"/>
            <a:ext cx="93636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600" dirty="0"/>
              <a:t>Exemplo Completo (index.html)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20B6E5BA-A407-A68B-5FDB-78A1D7F64549}"/>
              </a:ext>
            </a:extLst>
          </p:cNvPr>
          <p:cNvSpPr txBox="1"/>
          <p:nvPr/>
        </p:nvSpPr>
        <p:spPr>
          <a:xfrm>
            <a:off x="1065440" y="646331"/>
            <a:ext cx="9573208" cy="57246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&lt;!DOCTYPE </a:t>
            </a:r>
            <a:r>
              <a:rPr lang="pt-BR" dirty="0" err="1"/>
              <a:t>html</a:t>
            </a:r>
            <a:r>
              <a:rPr lang="pt-BR" dirty="0"/>
              <a:t>&gt;</a:t>
            </a:r>
          </a:p>
          <a:p>
            <a:r>
              <a:rPr lang="pt-BR" dirty="0"/>
              <a:t>&lt;</a:t>
            </a:r>
            <a:r>
              <a:rPr lang="pt-BR" dirty="0" err="1"/>
              <a:t>html</a:t>
            </a:r>
            <a:r>
              <a:rPr lang="pt-BR" dirty="0"/>
              <a:t>&gt;</a:t>
            </a:r>
          </a:p>
          <a:p>
            <a:r>
              <a:rPr lang="pt-BR" dirty="0"/>
              <a:t>&lt;</a:t>
            </a:r>
            <a:r>
              <a:rPr lang="pt-BR" dirty="0" err="1"/>
              <a:t>head</a:t>
            </a:r>
            <a:r>
              <a:rPr lang="pt-BR" dirty="0"/>
              <a:t>&gt;</a:t>
            </a:r>
          </a:p>
          <a:p>
            <a:r>
              <a:rPr lang="pt-BR" dirty="0"/>
              <a:t>    &lt;meta </a:t>
            </a:r>
            <a:r>
              <a:rPr lang="pt-BR" dirty="0" err="1"/>
              <a:t>charset</a:t>
            </a:r>
            <a:r>
              <a:rPr lang="pt-BR" dirty="0"/>
              <a:t>="UTF-8"&gt;</a:t>
            </a:r>
          </a:p>
          <a:p>
            <a:r>
              <a:rPr lang="pt-BR" dirty="0"/>
              <a:t>    &lt;!--&lt;meta </a:t>
            </a:r>
            <a:r>
              <a:rPr lang="pt-BR" dirty="0" err="1"/>
              <a:t>charset</a:t>
            </a:r>
            <a:r>
              <a:rPr lang="pt-BR" dirty="0"/>
              <a:t>="iso-8859-1"&gt;--&gt;</a:t>
            </a:r>
          </a:p>
          <a:p>
            <a:r>
              <a:rPr lang="pt-BR" dirty="0"/>
              <a:t>    &lt;</a:t>
            </a:r>
            <a:r>
              <a:rPr lang="pt-BR" dirty="0" err="1"/>
              <a:t>title</a:t>
            </a:r>
            <a:r>
              <a:rPr lang="pt-BR" dirty="0"/>
              <a:t>&gt;Minha Página&lt;/</a:t>
            </a:r>
            <a:r>
              <a:rPr lang="pt-BR" dirty="0" err="1"/>
              <a:t>title</a:t>
            </a:r>
            <a:r>
              <a:rPr lang="pt-BR" dirty="0"/>
              <a:t>&gt;</a:t>
            </a:r>
          </a:p>
          <a:p>
            <a:r>
              <a:rPr lang="pt-BR" dirty="0"/>
              <a:t>&lt;/</a:t>
            </a:r>
            <a:r>
              <a:rPr lang="pt-BR" dirty="0" err="1"/>
              <a:t>head</a:t>
            </a:r>
            <a:r>
              <a:rPr lang="pt-BR" dirty="0"/>
              <a:t>&gt;</a:t>
            </a:r>
          </a:p>
          <a:p>
            <a:r>
              <a:rPr lang="pt-BR" dirty="0"/>
              <a:t>&lt;body&gt;</a:t>
            </a:r>
          </a:p>
          <a:p>
            <a:r>
              <a:rPr lang="pt-BR" dirty="0"/>
              <a:t>    &lt;h1&gt;Minha primeira página HTML&lt;/h1&gt;</a:t>
            </a:r>
          </a:p>
          <a:p>
            <a:r>
              <a:rPr lang="pt-BR" dirty="0"/>
              <a:t>    &lt;!--Comentários--&gt;</a:t>
            </a:r>
          </a:p>
          <a:p>
            <a:r>
              <a:rPr lang="pt-BR" dirty="0"/>
              <a:t>    &lt;p&gt;Bem-vindo ao sistema.&lt;/p&gt;</a:t>
            </a:r>
          </a:p>
          <a:p>
            <a:r>
              <a:rPr lang="pt-BR" dirty="0"/>
              <a:t>    &lt;a </a:t>
            </a:r>
            <a:r>
              <a:rPr lang="pt-BR" dirty="0" err="1"/>
              <a:t>href</a:t>
            </a:r>
            <a:r>
              <a:rPr lang="pt-BR" dirty="0"/>
              <a:t>="#"&gt;Entrar&lt;/a&gt;</a:t>
            </a:r>
          </a:p>
          <a:p>
            <a:r>
              <a:rPr lang="pt-BR" dirty="0"/>
              <a:t>    &lt;</a:t>
            </a:r>
            <a:r>
              <a:rPr lang="pt-BR" dirty="0" err="1"/>
              <a:t>br</a:t>
            </a:r>
            <a:r>
              <a:rPr lang="pt-BR" dirty="0"/>
              <a:t>&gt;&lt;</a:t>
            </a:r>
            <a:r>
              <a:rPr lang="pt-BR" dirty="0" err="1"/>
              <a:t>br</a:t>
            </a:r>
            <a:r>
              <a:rPr lang="pt-BR" dirty="0"/>
              <a:t>/&gt;</a:t>
            </a:r>
          </a:p>
          <a:p>
            <a:r>
              <a:rPr lang="pt-BR" sz="1600" dirty="0"/>
              <a:t>    &lt;</a:t>
            </a:r>
            <a:r>
              <a:rPr lang="pt-BR" sz="1600" dirty="0" err="1"/>
              <a:t>div</a:t>
            </a:r>
            <a:r>
              <a:rPr lang="pt-BR" sz="1600" dirty="0"/>
              <a:t> </a:t>
            </a:r>
            <a:r>
              <a:rPr lang="pt-BR" sz="1600" dirty="0" err="1"/>
              <a:t>style</a:t>
            </a:r>
            <a:r>
              <a:rPr lang="pt-BR" sz="1600" dirty="0"/>
              <a:t>="</a:t>
            </a:r>
            <a:r>
              <a:rPr lang="pt-BR" sz="1600" dirty="0" err="1"/>
              <a:t>border</a:t>
            </a:r>
            <a:r>
              <a:rPr lang="pt-BR" sz="1600" dirty="0"/>
              <a:t>: 2px </a:t>
            </a:r>
            <a:r>
              <a:rPr lang="pt-BR" sz="1600" dirty="0" err="1"/>
              <a:t>solid</a:t>
            </a:r>
            <a:r>
              <a:rPr lang="pt-BR" sz="1600" dirty="0"/>
              <a:t> black;"&gt;</a:t>
            </a:r>
          </a:p>
          <a:p>
            <a:r>
              <a:rPr lang="pt-BR" sz="1600" dirty="0"/>
              <a:t>        &lt;h1&gt;Área do Sistema&lt;/h1&gt;</a:t>
            </a:r>
          </a:p>
          <a:p>
            <a:r>
              <a:rPr lang="pt-BR" sz="1600" dirty="0"/>
              <a:t>        &lt;p&gt;Conteúdo interno&lt;/p&gt;</a:t>
            </a:r>
          </a:p>
          <a:p>
            <a:r>
              <a:rPr lang="pt-BR" sz="1600" dirty="0"/>
              <a:t>    &lt;/</a:t>
            </a:r>
            <a:r>
              <a:rPr lang="pt-BR" sz="1600" dirty="0" err="1"/>
              <a:t>div</a:t>
            </a:r>
            <a:r>
              <a:rPr lang="pt-BR" sz="1600" dirty="0"/>
              <a:t>&gt;</a:t>
            </a:r>
            <a:endParaRPr lang="pt-BR" dirty="0"/>
          </a:p>
          <a:p>
            <a:r>
              <a:rPr lang="pt-BR" dirty="0"/>
              <a:t>    </a:t>
            </a:r>
            <a:r>
              <a:rPr lang="pt-BR" sz="1600" dirty="0"/>
              <a:t>&lt;</a:t>
            </a:r>
            <a:r>
              <a:rPr lang="pt-BR" sz="1600" dirty="0" err="1"/>
              <a:t>img</a:t>
            </a:r>
            <a:r>
              <a:rPr lang="pt-BR" sz="1600" dirty="0"/>
              <a:t> </a:t>
            </a:r>
            <a:r>
              <a:rPr lang="pt-BR" sz="1600" dirty="0" err="1"/>
              <a:t>src</a:t>
            </a:r>
            <a:r>
              <a:rPr lang="pt-BR" sz="1600" dirty="0"/>
              <a:t>="logo.jpg" </a:t>
            </a:r>
            <a:r>
              <a:rPr lang="pt-BR" sz="1600" dirty="0" err="1"/>
              <a:t>alt</a:t>
            </a:r>
            <a:r>
              <a:rPr lang="pt-BR" sz="1600" dirty="0"/>
              <a:t>="Logo da empresa" </a:t>
            </a:r>
            <a:r>
              <a:rPr lang="pt-BR" sz="1600" dirty="0" err="1"/>
              <a:t>title</a:t>
            </a:r>
            <a:r>
              <a:rPr lang="pt-BR" sz="1600" dirty="0"/>
              <a:t>="Esta é a logo da empresa"&gt;    </a:t>
            </a:r>
          </a:p>
          <a:p>
            <a:r>
              <a:rPr lang="pt-BR" dirty="0"/>
              <a:t>&lt;/body&gt;</a:t>
            </a:r>
          </a:p>
          <a:p>
            <a:r>
              <a:rPr lang="pt-BR" dirty="0"/>
              <a:t>&lt;/</a:t>
            </a:r>
            <a:r>
              <a:rPr lang="pt-BR" dirty="0" err="1"/>
              <a:t>html</a:t>
            </a:r>
            <a:r>
              <a:rPr lang="pt-BR" dirty="0"/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32483614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3A512-9EC3-3758-F07E-86A1C924E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6">
            <a:extLst>
              <a:ext uri="{FF2B5EF4-FFF2-40B4-BE49-F238E27FC236}">
                <a16:creationId xmlns:a16="http://schemas.microsoft.com/office/drawing/2014/main" id="{ADAD120C-5039-57AA-E401-918871F3442B}"/>
              </a:ext>
            </a:extLst>
          </p:cNvPr>
          <p:cNvSpPr txBox="1"/>
          <p:nvPr/>
        </p:nvSpPr>
        <p:spPr>
          <a:xfrm>
            <a:off x="2198707" y="229200"/>
            <a:ext cx="60975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600" dirty="0"/>
              <a:t>Atividade Prática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1B581DEB-7260-00E9-7153-8A193003864C}"/>
              </a:ext>
            </a:extLst>
          </p:cNvPr>
          <p:cNvSpPr txBox="1"/>
          <p:nvPr/>
        </p:nvSpPr>
        <p:spPr>
          <a:xfrm>
            <a:off x="705808" y="1024821"/>
            <a:ext cx="908335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Criar uma página de apresentação de um sistema desenvolvido em Java.</a:t>
            </a:r>
          </a:p>
          <a:p>
            <a:r>
              <a:rPr lang="pt-BR" b="1" dirty="0" err="1"/>
              <a:t>Ex</a:t>
            </a:r>
            <a:r>
              <a:rPr lang="pt-BR" b="1" dirty="0"/>
              <a:t>: Pode ser de cadastro de pessoas</a:t>
            </a:r>
          </a:p>
          <a:p>
            <a:endParaRPr lang="pt-BR" b="1" dirty="0"/>
          </a:p>
          <a:p>
            <a:r>
              <a:rPr lang="pt-BR" b="1" dirty="0"/>
              <a:t>Desenvolver uma página contendo:</a:t>
            </a:r>
          </a:p>
          <a:p>
            <a:r>
              <a:rPr lang="pt-BR" dirty="0"/>
              <a:t>título principal; </a:t>
            </a:r>
          </a:p>
          <a:p>
            <a:r>
              <a:rPr lang="pt-BR" dirty="0"/>
              <a:t>texto de apresentação; </a:t>
            </a:r>
          </a:p>
          <a:p>
            <a:r>
              <a:rPr lang="pt-BR" dirty="0"/>
              <a:t>imagem; </a:t>
            </a:r>
          </a:p>
          <a:p>
            <a:r>
              <a:rPr lang="pt-BR" dirty="0"/>
              <a:t>link; </a:t>
            </a:r>
          </a:p>
          <a:p>
            <a:r>
              <a:rPr lang="pt-BR" dirty="0"/>
              <a:t>divisão com &lt;</a:t>
            </a:r>
            <a:r>
              <a:rPr lang="pt-BR" dirty="0" err="1"/>
              <a:t>div</a:t>
            </a:r>
            <a:r>
              <a:rPr lang="pt-BR" dirty="0"/>
              <a:t>&gt;.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739791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B0439-E627-4CF1-AD2F-ACD17DB3B1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6">
            <a:extLst>
              <a:ext uri="{FF2B5EF4-FFF2-40B4-BE49-F238E27FC236}">
                <a16:creationId xmlns:a16="http://schemas.microsoft.com/office/drawing/2014/main" id="{770BF5A5-7389-13FF-527A-80BBBC5918D7}"/>
              </a:ext>
            </a:extLst>
          </p:cNvPr>
          <p:cNvSpPr txBox="1"/>
          <p:nvPr/>
        </p:nvSpPr>
        <p:spPr>
          <a:xfrm>
            <a:off x="2911657" y="276526"/>
            <a:ext cx="60975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600" dirty="0"/>
              <a:t>Conclusão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8ED5EAEE-D693-D496-6D9E-4C37B2CC95D7}"/>
              </a:ext>
            </a:extLst>
          </p:cNvPr>
          <p:cNvSpPr txBox="1"/>
          <p:nvPr/>
        </p:nvSpPr>
        <p:spPr>
          <a:xfrm>
            <a:off x="905743" y="1104291"/>
            <a:ext cx="957320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/>
              <a:t>Revisão conceito de front-</a:t>
            </a:r>
            <a:r>
              <a:rPr lang="pt-BR" sz="2400" dirty="0" err="1"/>
              <a:t>end</a:t>
            </a:r>
            <a:r>
              <a:rPr lang="pt-BR" sz="2400" dirty="0"/>
              <a:t> e </a:t>
            </a:r>
            <a:r>
              <a:rPr lang="pt-BR" sz="2400" dirty="0" err="1"/>
              <a:t>back-end</a:t>
            </a:r>
            <a:br>
              <a:rPr lang="pt-BR" sz="2400" dirty="0"/>
            </a:br>
            <a:r>
              <a:rPr lang="pt-BR" sz="2400" dirty="0"/>
              <a:t>✔ Relação HTML, CSS e Java</a:t>
            </a:r>
            <a:br>
              <a:rPr lang="pt-BR" sz="2400" dirty="0"/>
            </a:br>
            <a:r>
              <a:rPr lang="pt-BR" sz="2400" dirty="0"/>
              <a:t>✔ Estrutura HTML</a:t>
            </a:r>
            <a:br>
              <a:rPr lang="pt-BR" sz="2400" dirty="0"/>
            </a:br>
            <a:r>
              <a:rPr lang="pt-BR" sz="2400" dirty="0"/>
              <a:t>✔ Principais </a:t>
            </a:r>
            <a:r>
              <a:rPr lang="pt-BR" sz="2400" dirty="0" err="1"/>
              <a:t>tags</a:t>
            </a:r>
            <a:r>
              <a:rPr lang="pt-BR" sz="2400" dirty="0"/>
              <a:t> HTML</a:t>
            </a:r>
          </a:p>
        </p:txBody>
      </p:sp>
    </p:spTree>
    <p:extLst>
      <p:ext uri="{BB962C8B-B14F-4D97-AF65-F5344CB8AC3E}">
        <p14:creationId xmlns:p14="http://schemas.microsoft.com/office/powerpoint/2010/main" val="2634538950"/>
      </p:ext>
    </p:extLst>
  </p:cSld>
  <p:clrMapOvr>
    <a:masterClrMapping/>
  </p:clrMapOvr>
</p:sld>
</file>

<file path=ppt/theme/theme1.xml><?xml version="1.0" encoding="utf-8"?>
<a:theme xmlns:a="http://schemas.openxmlformats.org/drawingml/2006/main" name="Facetado">
  <a:themeElements>
    <a:clrScheme name="Facetado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ado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ado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634</TotalTime>
  <Words>900</Words>
  <Application>Microsoft Office PowerPoint</Application>
  <PresentationFormat>Widescreen</PresentationFormat>
  <Paragraphs>175</Paragraphs>
  <Slides>18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18</vt:i4>
      </vt:variant>
    </vt:vector>
  </HeadingPairs>
  <TitlesOfParts>
    <vt:vector size="23" baseType="lpstr">
      <vt:lpstr>Arial</vt:lpstr>
      <vt:lpstr>Calibri</vt:lpstr>
      <vt:lpstr>Trebuchet MS</vt:lpstr>
      <vt:lpstr>Wingdings 3</vt:lpstr>
      <vt:lpstr>Facetado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James Kuehl</dc:creator>
  <cp:lastModifiedBy>James Kuehl</cp:lastModifiedBy>
  <cp:revision>138</cp:revision>
  <dcterms:created xsi:type="dcterms:W3CDTF">2026-03-07T12:30:21Z</dcterms:created>
  <dcterms:modified xsi:type="dcterms:W3CDTF">2026-05-18T14:36:03Z</dcterms:modified>
</cp:coreProperties>
</file>