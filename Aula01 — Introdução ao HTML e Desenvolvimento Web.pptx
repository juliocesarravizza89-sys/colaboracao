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0"/>
  </p:notesMasterIdLst>
  <p:sldIdLst>
    <p:sldId id="256" r:id="rId2"/>
    <p:sldId id="257" r:id="rId3"/>
    <p:sldId id="266" r:id="rId4"/>
    <p:sldId id="267" r:id="rId5"/>
    <p:sldId id="258" r:id="rId6"/>
    <p:sldId id="268" r:id="rId7"/>
    <p:sldId id="259" r:id="rId8"/>
    <p:sldId id="269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8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697583" y="1500449"/>
            <a:ext cx="82201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Introdução ao desenvolvimento web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Conceito de front-</a:t>
            </a:r>
            <a:r>
              <a:rPr lang="pt-BR" sz="2800" dirty="0" err="1"/>
              <a:t>end</a:t>
            </a:r>
            <a:r>
              <a:rPr lang="pt-BR" sz="2800" dirty="0"/>
              <a:t> e </a:t>
            </a:r>
            <a:r>
              <a:rPr lang="pt-BR" sz="2800" dirty="0" err="1"/>
              <a:t>back-end</a:t>
            </a:r>
            <a:r>
              <a:rPr lang="pt-BR" sz="28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Relação entre HTML, CSS e Java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Funcionamento de aplicações web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800" dirty="0"/>
              <a:t>Visual Studio </a:t>
            </a:r>
            <a:r>
              <a:rPr lang="pt-BR" sz="2800" dirty="0" err="1"/>
              <a:t>Code</a:t>
            </a:r>
            <a:r>
              <a:rPr lang="pt-BR" sz="2800" dirty="0"/>
              <a:t> - HTML </a:t>
            </a:r>
            <a:r>
              <a:rPr lang="pt-BR" sz="2800" dirty="0" err="1"/>
              <a:t>Preview</a:t>
            </a:r>
            <a:r>
              <a:rPr lang="pt-BR" sz="2800"/>
              <a:t> </a:t>
            </a:r>
            <a:r>
              <a:rPr lang="pt-BR" sz="2800" smtClean="0"/>
              <a:t>aa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697583" y="716796"/>
            <a:ext cx="9125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Introdução ao Desenvolvimento Web e HTML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90644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o funcionamento básico da web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a diferença entre front-</a:t>
            </a:r>
            <a:r>
              <a:rPr lang="pt-BR" sz="2400" dirty="0" err="1"/>
              <a:t>end</a:t>
            </a:r>
            <a:r>
              <a:rPr lang="pt-BR" sz="2400" dirty="0"/>
              <a:t> e </a:t>
            </a:r>
            <a:r>
              <a:rPr lang="pt-BR" sz="2400" dirty="0" err="1"/>
              <a:t>back-end</a:t>
            </a:r>
            <a:r>
              <a:rPr lang="pt-BR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Conhecer a estrutura de uma página HTML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Aprender as principais </a:t>
            </a:r>
            <a:r>
              <a:rPr lang="pt-BR" sz="2400" dirty="0" err="1"/>
              <a:t>tags</a:t>
            </a:r>
            <a:r>
              <a:rPr lang="pt-BR" sz="2400" dirty="0"/>
              <a:t> HTML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925280" y="312696"/>
            <a:ext cx="6869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que é Desenvolvimento Web?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99796" y="1192402"/>
            <a:ext cx="9573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 o processo de criação de: sites; sistemas web; aplicações acessadas pelo navegador. </a:t>
            </a:r>
          </a:p>
          <a:p>
            <a:endParaRPr lang="pt-BR" b="1" dirty="0"/>
          </a:p>
          <a:p>
            <a:r>
              <a:rPr lang="pt-BR" b="1" dirty="0"/>
              <a:t>Exemplos</a:t>
            </a:r>
          </a:p>
          <a:p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Sistemas acadêmicos;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Internet banking;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E-commerce;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Redes sociais.</a:t>
            </a:r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699796" y="435244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Front-</a:t>
            </a:r>
            <a:r>
              <a:rPr lang="pt-BR" sz="2400" b="1" dirty="0" err="1"/>
              <a:t>end</a:t>
            </a:r>
            <a:r>
              <a:rPr lang="pt-BR" sz="2400" b="1" dirty="0"/>
              <a:t> e Back-</a:t>
            </a:r>
            <a:r>
              <a:rPr lang="pt-BR" sz="2400" b="1" dirty="0" err="1"/>
              <a:t>end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699796" y="1217219"/>
            <a:ext cx="892410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Front-</a:t>
            </a:r>
            <a:r>
              <a:rPr lang="pt-BR" sz="2000" b="1" dirty="0" err="1"/>
              <a:t>end</a:t>
            </a:r>
            <a:r>
              <a:rPr lang="pt-BR" sz="2000" b="1" dirty="0"/>
              <a:t>: </a:t>
            </a:r>
            <a:r>
              <a:rPr lang="pt-BR" sz="2000" dirty="0"/>
              <a:t>Parte visual do sistema.</a:t>
            </a:r>
          </a:p>
          <a:p>
            <a:r>
              <a:rPr lang="pt-BR" sz="2000" b="1" dirty="0"/>
              <a:t>Tecnologias</a:t>
            </a:r>
          </a:p>
          <a:p>
            <a:r>
              <a:rPr lang="pt-BR" sz="2000" dirty="0"/>
              <a:t>HTML </a:t>
            </a:r>
          </a:p>
          <a:p>
            <a:r>
              <a:rPr lang="pt-BR" sz="2000" dirty="0"/>
              <a:t>CSS </a:t>
            </a:r>
          </a:p>
          <a:p>
            <a:r>
              <a:rPr lang="pt-BR" sz="2000" dirty="0" err="1"/>
              <a:t>JavaScript</a:t>
            </a:r>
            <a:r>
              <a:rPr lang="pt-BR" sz="2000" dirty="0"/>
              <a:t> </a:t>
            </a:r>
          </a:p>
          <a:p>
            <a:r>
              <a:rPr lang="pt-BR" sz="2000" b="1" dirty="0"/>
              <a:t>Responsável por: </a:t>
            </a:r>
            <a:r>
              <a:rPr lang="pt-BR" sz="2000" dirty="0"/>
              <a:t>layout; botões; formulários; menus; interação visual. </a:t>
            </a:r>
          </a:p>
          <a:p>
            <a:r>
              <a:rPr lang="pt-BR" sz="2000" dirty="0"/>
              <a:t/>
            </a:r>
            <a:br>
              <a:rPr lang="pt-BR" sz="2000" dirty="0"/>
            </a:br>
            <a:r>
              <a:rPr lang="pt-BR" sz="2000" b="1" dirty="0"/>
              <a:t>Back-</a:t>
            </a:r>
            <a:r>
              <a:rPr lang="pt-BR" sz="2000" b="1" dirty="0" err="1"/>
              <a:t>end</a:t>
            </a:r>
            <a:r>
              <a:rPr lang="pt-BR" sz="2000" b="1" dirty="0"/>
              <a:t>: </a:t>
            </a:r>
            <a:r>
              <a:rPr lang="pt-BR" sz="2000" dirty="0"/>
              <a:t>Parte lógica do sistema.</a:t>
            </a:r>
          </a:p>
          <a:p>
            <a:r>
              <a:rPr lang="pt-BR" sz="2000" b="1" dirty="0"/>
              <a:t>Tecnologias</a:t>
            </a:r>
          </a:p>
          <a:p>
            <a:r>
              <a:rPr lang="pt-BR" sz="2000" dirty="0"/>
              <a:t>Java </a:t>
            </a:r>
          </a:p>
          <a:p>
            <a:r>
              <a:rPr lang="pt-BR" sz="2000" dirty="0"/>
              <a:t>C# </a:t>
            </a:r>
          </a:p>
          <a:p>
            <a:r>
              <a:rPr lang="pt-BR" sz="2000" dirty="0"/>
              <a:t>PHP </a:t>
            </a:r>
          </a:p>
          <a:p>
            <a:r>
              <a:rPr lang="pt-BR" sz="2000" dirty="0"/>
              <a:t>Python </a:t>
            </a:r>
          </a:p>
          <a:p>
            <a:r>
              <a:rPr lang="pt-BR" sz="2000" b="1" dirty="0"/>
              <a:t>Responsável por: </a:t>
            </a:r>
            <a:r>
              <a:rPr lang="pt-BR" sz="2000" dirty="0"/>
              <a:t>banco de dados; regras de negócio; autenticação;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1462260" y="246708"/>
            <a:ext cx="8048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/>
              <a:t>Exemplo</a:t>
            </a:r>
            <a:r>
              <a:rPr lang="en-US" sz="3200" b="1" dirty="0"/>
              <a:t> </a:t>
            </a:r>
            <a:r>
              <a:rPr lang="en-US" sz="3200" b="1" dirty="0" err="1"/>
              <a:t>Prático</a:t>
            </a:r>
            <a:r>
              <a:rPr lang="en-US" sz="3200" b="1" dirty="0"/>
              <a:t> Front-end x Back-end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192402"/>
            <a:ext cx="9573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Exemplo: Tela de Login</a:t>
            </a:r>
          </a:p>
          <a:p>
            <a:endParaRPr lang="pt-BR" b="1" dirty="0"/>
          </a:p>
          <a:p>
            <a:r>
              <a:rPr lang="pt-BR" b="1" dirty="0"/>
              <a:t>Front-</a:t>
            </a:r>
            <a:r>
              <a:rPr lang="pt-BR" b="1" dirty="0" err="1"/>
              <a:t>end</a:t>
            </a:r>
            <a:r>
              <a:rPr lang="pt-BR" b="1" dirty="0"/>
              <a:t>:</a:t>
            </a:r>
          </a:p>
          <a:p>
            <a:r>
              <a:rPr lang="pt-BR" dirty="0"/>
              <a:t>campos de usuário e senha; </a:t>
            </a:r>
          </a:p>
          <a:p>
            <a:r>
              <a:rPr lang="pt-BR" dirty="0"/>
              <a:t>botão “Entrar”; </a:t>
            </a:r>
          </a:p>
          <a:p>
            <a:r>
              <a:rPr lang="pt-BR" dirty="0"/>
              <a:t>aparência visual. </a:t>
            </a:r>
          </a:p>
          <a:p>
            <a:endParaRPr lang="pt-BR" b="1" dirty="0"/>
          </a:p>
          <a:p>
            <a:r>
              <a:rPr lang="pt-BR" b="1" dirty="0"/>
              <a:t>Back-</a:t>
            </a:r>
            <a:r>
              <a:rPr lang="pt-BR" b="1" dirty="0" err="1"/>
              <a:t>end</a:t>
            </a:r>
            <a:r>
              <a:rPr lang="pt-BR" b="1" dirty="0"/>
              <a:t>:</a:t>
            </a:r>
          </a:p>
          <a:p>
            <a:r>
              <a:rPr lang="pt-BR" dirty="0"/>
              <a:t>validar login; </a:t>
            </a:r>
          </a:p>
          <a:p>
            <a:r>
              <a:rPr lang="pt-BR" dirty="0"/>
              <a:t>verificar senha no banco; </a:t>
            </a:r>
          </a:p>
          <a:p>
            <a:r>
              <a:rPr lang="pt-BR" dirty="0"/>
              <a:t>liberar acesso.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A36E-4A08-E9BD-998B-F7D6F1979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CB24DAB-4D8D-07C7-A160-3992A84B4A3C}"/>
              </a:ext>
            </a:extLst>
          </p:cNvPr>
          <p:cNvSpPr txBox="1"/>
          <p:nvPr/>
        </p:nvSpPr>
        <p:spPr>
          <a:xfrm>
            <a:off x="2321206" y="295134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Relação entre HTML, CSS e Java</a:t>
            </a:r>
            <a:endParaRPr lang="pt-BR" sz="32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588C7E-1A9C-9D97-285C-3E7A412B1497}"/>
              </a:ext>
            </a:extLst>
          </p:cNvPr>
          <p:cNvSpPr txBox="1"/>
          <p:nvPr/>
        </p:nvSpPr>
        <p:spPr>
          <a:xfrm>
            <a:off x="3133540" y="1120676"/>
            <a:ext cx="5086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HTML</a:t>
            </a:r>
          </a:p>
          <a:p>
            <a:pPr>
              <a:buNone/>
            </a:pPr>
            <a:r>
              <a:rPr lang="pt-BR" b="1" dirty="0"/>
              <a:t>Cria</a:t>
            </a:r>
            <a:r>
              <a:rPr lang="pt-BR" dirty="0"/>
              <a:t>: títulos;  textos; imagens.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CSS</a:t>
            </a:r>
          </a:p>
          <a:p>
            <a:pPr>
              <a:buNone/>
            </a:pPr>
            <a:r>
              <a:rPr lang="pt-BR" b="1" dirty="0"/>
              <a:t>Define</a:t>
            </a:r>
            <a:r>
              <a:rPr lang="pt-BR" dirty="0"/>
              <a:t>: cores; fontes; alinhamentos.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Java</a:t>
            </a:r>
          </a:p>
          <a:p>
            <a:pPr>
              <a:buNone/>
            </a:pPr>
            <a:r>
              <a:rPr lang="pt-BR" b="1" dirty="0"/>
              <a:t>Processa</a:t>
            </a:r>
            <a:r>
              <a:rPr lang="pt-BR" dirty="0"/>
              <a:t>: login; cálculos; regras do sistema.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02DCB92-6890-091E-0FC6-C75861139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09" y="3918430"/>
            <a:ext cx="5781948" cy="1712058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11537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666260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Funcionamento de Aplicações Web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3123351" y="1791197"/>
            <a:ext cx="50214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Fluxo básico: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Usuário acessa o navegador;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Navegador envia requisição;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Servidor processa;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Servidor retorna HTML/CSS;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Navegador exibe página.</a:t>
            </a:r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133D-23E0-1898-B2A7-5A177E73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2C2B543-E535-371A-628E-097CBCA64E8E}"/>
              </a:ext>
            </a:extLst>
          </p:cNvPr>
          <p:cNvSpPr txBox="1"/>
          <p:nvPr/>
        </p:nvSpPr>
        <p:spPr>
          <a:xfrm>
            <a:off x="1666260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Arquitetura Simplificada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40FE99-6164-93F5-BB9E-A31E5D2069C3}"/>
              </a:ext>
            </a:extLst>
          </p:cNvPr>
          <p:cNvSpPr txBox="1"/>
          <p:nvPr/>
        </p:nvSpPr>
        <p:spPr>
          <a:xfrm>
            <a:off x="933062" y="1696256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Estrutura</a:t>
            </a:r>
          </a:p>
          <a:p>
            <a:r>
              <a:rPr lang="pt-BR" sz="2400" dirty="0"/>
              <a:t>Usuário → Navegador → Servidor Java → Banco de Dados</a:t>
            </a:r>
          </a:p>
          <a:p>
            <a:endParaRPr lang="pt-BR" sz="2400" b="1" dirty="0"/>
          </a:p>
          <a:p>
            <a:r>
              <a:rPr lang="pt-BR" sz="2400" b="1" dirty="0"/>
              <a:t>Explicação</a:t>
            </a:r>
          </a:p>
          <a:p>
            <a:r>
              <a:rPr lang="pt-BR" sz="2400" dirty="0"/>
              <a:t>Navegador interpreta HTML e CSS; </a:t>
            </a:r>
          </a:p>
          <a:p>
            <a:r>
              <a:rPr lang="pt-BR" sz="2400" dirty="0"/>
              <a:t>Java processa informações; </a:t>
            </a:r>
          </a:p>
          <a:p>
            <a:r>
              <a:rPr lang="pt-BR" sz="2400" dirty="0"/>
              <a:t>Banco armazena dados.</a:t>
            </a:r>
          </a:p>
        </p:txBody>
      </p:sp>
    </p:spTree>
    <p:extLst>
      <p:ext uri="{BB962C8B-B14F-4D97-AF65-F5344CB8AC3E}">
        <p14:creationId xmlns:p14="http://schemas.microsoft.com/office/powerpoint/2010/main" val="288065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05B2-F135-606A-C0DA-8998C1B5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216AB94-CED4-C079-898C-0FAF184A4510}"/>
              </a:ext>
            </a:extLst>
          </p:cNvPr>
          <p:cNvSpPr txBox="1"/>
          <p:nvPr/>
        </p:nvSpPr>
        <p:spPr>
          <a:xfrm>
            <a:off x="1666260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 que é HTML?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8E4D3C-8A78-AAAD-A487-CA77F254F14A}"/>
              </a:ext>
            </a:extLst>
          </p:cNvPr>
          <p:cNvSpPr txBox="1"/>
          <p:nvPr/>
        </p:nvSpPr>
        <p:spPr>
          <a:xfrm>
            <a:off x="933062" y="1696256"/>
            <a:ext cx="9573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HTML: </a:t>
            </a:r>
            <a:r>
              <a:rPr lang="pt-BR" sz="2400" b="1" dirty="0" err="1"/>
              <a:t>HyperText</a:t>
            </a:r>
            <a:r>
              <a:rPr lang="pt-BR" sz="2400" b="1" dirty="0"/>
              <a:t> Markup </a:t>
            </a:r>
            <a:r>
              <a:rPr lang="pt-BR" sz="2400" b="1" dirty="0" err="1"/>
              <a:t>Language</a:t>
            </a:r>
            <a:endParaRPr lang="pt-BR" sz="2400" b="1" dirty="0"/>
          </a:p>
          <a:p>
            <a:r>
              <a:rPr lang="pt-BR" sz="2400" dirty="0"/>
              <a:t>Linguagem utilizada para estruturar páginas web.</a:t>
            </a:r>
          </a:p>
          <a:p>
            <a:endParaRPr lang="pt-BR" sz="2400" b="1" dirty="0"/>
          </a:p>
          <a:p>
            <a:r>
              <a:rPr lang="pt-BR" sz="2400" b="1" dirty="0"/>
              <a:t>O HTML organiza: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textos;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imagens;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links;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tabelas;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formulários</a:t>
            </a:r>
          </a:p>
        </p:txBody>
      </p:sp>
    </p:spTree>
    <p:extLst>
      <p:ext uri="{BB962C8B-B14F-4D97-AF65-F5344CB8AC3E}">
        <p14:creationId xmlns:p14="http://schemas.microsoft.com/office/powerpoint/2010/main" val="3558380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B316B-E2F7-EA48-BE17-EDD349B0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167ED03-0882-BFFF-82A1-A5B6749AA2E9}"/>
              </a:ext>
            </a:extLst>
          </p:cNvPr>
          <p:cNvSpPr txBox="1"/>
          <p:nvPr/>
        </p:nvSpPr>
        <p:spPr>
          <a:xfrm>
            <a:off x="1666259" y="549560"/>
            <a:ext cx="93252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Estrutura Básica do HTML</a:t>
            </a:r>
          </a:p>
          <a:p>
            <a:pPr algn="ctr"/>
            <a:r>
              <a:rPr lang="pt-BR" sz="3600" dirty="0"/>
              <a:t>Utilizando Visual Studio </a:t>
            </a:r>
            <a:r>
              <a:rPr lang="pt-BR" sz="3600" dirty="0" err="1"/>
              <a:t>Code</a:t>
            </a:r>
            <a:r>
              <a:rPr lang="pt-BR" sz="3600" dirty="0"/>
              <a:t> (</a:t>
            </a:r>
            <a:r>
              <a:rPr lang="pt-BR" sz="3600" dirty="0" err="1"/>
              <a:t>Shift+Alt+F</a:t>
            </a:r>
            <a:r>
              <a:rPr lang="pt-BR" sz="36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BF2A5C-24BA-4F8E-CF1D-904E20162411}"/>
              </a:ext>
            </a:extLst>
          </p:cNvPr>
          <p:cNvSpPr txBox="1"/>
          <p:nvPr/>
        </p:nvSpPr>
        <p:spPr>
          <a:xfrm>
            <a:off x="718456" y="1907235"/>
            <a:ext cx="1120606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&lt;!DOCTYPE </a:t>
            </a:r>
            <a:r>
              <a:rPr lang="pt-BR" sz="2400" b="1" dirty="0" err="1"/>
              <a:t>html</a:t>
            </a:r>
            <a:r>
              <a:rPr lang="pt-BR" sz="2400" b="1" dirty="0"/>
              <a:t>&gt;</a:t>
            </a:r>
            <a:br>
              <a:rPr lang="pt-BR" sz="2400" b="1" dirty="0"/>
            </a:br>
            <a:r>
              <a:rPr lang="pt-BR" sz="2400" b="1" dirty="0"/>
              <a:t>&lt;</a:t>
            </a:r>
            <a:r>
              <a:rPr lang="pt-BR" sz="2400" b="1" dirty="0" err="1"/>
              <a:t>html</a:t>
            </a:r>
            <a:r>
              <a:rPr lang="pt-BR" sz="2400" b="1" dirty="0"/>
              <a:t>&gt;</a:t>
            </a:r>
            <a:br>
              <a:rPr lang="pt-BR" sz="2400" b="1" dirty="0"/>
            </a:br>
            <a:r>
              <a:rPr lang="pt-BR" sz="2400" b="1" dirty="0"/>
              <a:t>&lt;</a:t>
            </a:r>
            <a:r>
              <a:rPr lang="pt-BR" sz="2400" b="1" dirty="0" err="1"/>
              <a:t>head</a:t>
            </a:r>
            <a:r>
              <a:rPr lang="pt-BR" sz="2400" b="1" dirty="0"/>
              <a:t>&gt;</a:t>
            </a:r>
          </a:p>
          <a:p>
            <a:r>
              <a:rPr lang="pt-BR" sz="2400" b="1" dirty="0">
                <a:highlight>
                  <a:srgbClr val="FFFF00"/>
                </a:highlight>
              </a:rPr>
              <a:t>   </a:t>
            </a:r>
            <a:r>
              <a:rPr lang="sv-SE" dirty="0">
                <a:highlight>
                  <a:srgbClr val="FFFF00"/>
                </a:highlight>
              </a:rPr>
              <a:t>&lt;meta charset="UTF-8"&gt;</a:t>
            </a:r>
          </a:p>
          <a:p>
            <a:r>
              <a:rPr lang="sv-SE" dirty="0">
                <a:highlight>
                  <a:srgbClr val="FFFF00"/>
                </a:highlight>
              </a:rPr>
              <a:t>    &lt;!--&lt;meta charset="iso-8859-1"&gt;--&gt;</a:t>
            </a:r>
          </a:p>
          <a:p>
            <a:r>
              <a:rPr lang="pt-BR" sz="2400" b="1" dirty="0"/>
              <a:t> &lt;</a:t>
            </a:r>
            <a:r>
              <a:rPr lang="pt-BR" sz="2400" b="1" dirty="0" err="1"/>
              <a:t>title</a:t>
            </a:r>
            <a:r>
              <a:rPr lang="pt-BR" sz="2400" b="1" dirty="0"/>
              <a:t>&gt;Minha Página&lt;/</a:t>
            </a:r>
            <a:r>
              <a:rPr lang="pt-BR" sz="2400" b="1" dirty="0" err="1"/>
              <a:t>title</a:t>
            </a:r>
            <a:r>
              <a:rPr lang="pt-BR" sz="2400" b="1" dirty="0"/>
              <a:t>&gt;</a:t>
            </a:r>
            <a:br>
              <a:rPr lang="pt-BR" sz="2400" b="1" dirty="0"/>
            </a:br>
            <a:r>
              <a:rPr lang="pt-BR" sz="2400" b="1" dirty="0"/>
              <a:t>&lt;/</a:t>
            </a:r>
            <a:r>
              <a:rPr lang="pt-BR" sz="2400" b="1" dirty="0" err="1"/>
              <a:t>head</a:t>
            </a:r>
            <a:r>
              <a:rPr lang="pt-BR" sz="2400" b="1" dirty="0"/>
              <a:t>&gt;</a:t>
            </a:r>
            <a:br>
              <a:rPr lang="pt-BR" sz="2400" b="1" dirty="0"/>
            </a:br>
            <a:r>
              <a:rPr lang="pt-BR" sz="2400" b="1" dirty="0"/>
              <a:t>&lt;body&gt;</a:t>
            </a:r>
            <a:br>
              <a:rPr lang="pt-BR" sz="2400" b="1" dirty="0"/>
            </a:br>
            <a:r>
              <a:rPr lang="pt-BR" sz="2400" b="1" dirty="0"/>
              <a:t>  &lt;h1&gt;Minha primeira página HTML&lt;/h1&gt;</a:t>
            </a:r>
          </a:p>
          <a:p>
            <a:r>
              <a:rPr lang="pt-BR" dirty="0"/>
              <a:t>   &lt;!--Comentários--&gt;</a:t>
            </a:r>
            <a:r>
              <a:rPr lang="pt-BR" sz="2400" b="1" dirty="0"/>
              <a:t/>
            </a:r>
            <a:br>
              <a:rPr lang="pt-BR" sz="2400" b="1" dirty="0"/>
            </a:br>
            <a:r>
              <a:rPr lang="pt-BR" sz="2400" b="1" dirty="0"/>
              <a:t>&lt;/body&gt;</a:t>
            </a:r>
            <a:br>
              <a:rPr lang="pt-BR" sz="2400" b="1" dirty="0"/>
            </a:br>
            <a:r>
              <a:rPr lang="pt-BR" sz="2400" b="1" dirty="0"/>
              <a:t>&lt;/</a:t>
            </a:r>
            <a:r>
              <a:rPr lang="pt-BR" sz="2400" b="1" dirty="0" err="1"/>
              <a:t>html</a:t>
            </a:r>
            <a:r>
              <a:rPr lang="pt-BR" sz="2400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53083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1948-FC47-BE5B-C90A-E8A1DF61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DD8F6D3-85F8-038A-699A-11B9046B1F0B}"/>
              </a:ext>
            </a:extLst>
          </p:cNvPr>
          <p:cNvSpPr txBox="1"/>
          <p:nvPr/>
        </p:nvSpPr>
        <p:spPr>
          <a:xfrm>
            <a:off x="1666260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Detalhando a Estrutura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8D7298-4CE6-0CD5-632B-1AF546FCFAB1}"/>
              </a:ext>
            </a:extLst>
          </p:cNvPr>
          <p:cNvSpPr txBox="1"/>
          <p:nvPr/>
        </p:nvSpPr>
        <p:spPr>
          <a:xfrm>
            <a:off x="933062" y="1696256"/>
            <a:ext cx="9573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&lt;!DOCTYPE </a:t>
            </a:r>
            <a:r>
              <a:rPr lang="pt-BR" sz="2400" b="1" dirty="0" err="1"/>
              <a:t>html</a:t>
            </a:r>
            <a:r>
              <a:rPr lang="pt-BR" sz="2400" b="1" dirty="0"/>
              <a:t>&gt;</a:t>
            </a:r>
          </a:p>
          <a:p>
            <a:r>
              <a:rPr lang="pt-BR" sz="2400" dirty="0"/>
              <a:t>Define que o documento utiliza HTML5.</a:t>
            </a:r>
          </a:p>
          <a:p>
            <a:r>
              <a:rPr lang="pt-BR" sz="2400" b="1" dirty="0"/>
              <a:t>&lt;</a:t>
            </a:r>
            <a:r>
              <a:rPr lang="pt-BR" sz="2400" b="1" dirty="0" err="1"/>
              <a:t>html</a:t>
            </a:r>
            <a:r>
              <a:rPr lang="pt-BR" sz="2400" b="1" dirty="0"/>
              <a:t>&gt;</a:t>
            </a:r>
            <a:endParaRPr lang="pt-BR" sz="3200" b="1" dirty="0"/>
          </a:p>
          <a:p>
            <a:r>
              <a:rPr lang="pt-BR" sz="2400" dirty="0"/>
              <a:t>Elemento principal da página.</a:t>
            </a:r>
          </a:p>
          <a:p>
            <a:r>
              <a:rPr lang="pt-BR" sz="2400" b="1" dirty="0"/>
              <a:t>&lt;</a:t>
            </a:r>
            <a:r>
              <a:rPr lang="pt-BR" sz="2400" b="1" dirty="0" err="1"/>
              <a:t>head</a:t>
            </a:r>
            <a:r>
              <a:rPr lang="pt-BR" sz="2400" b="1" dirty="0"/>
              <a:t>&gt;</a:t>
            </a:r>
            <a:endParaRPr lang="pt-BR" sz="3200" b="1" dirty="0"/>
          </a:p>
          <a:p>
            <a:r>
              <a:rPr lang="pt-BR" sz="2400" dirty="0"/>
              <a:t>Configurações da página:</a:t>
            </a:r>
          </a:p>
          <a:p>
            <a:r>
              <a:rPr lang="pt-BR" sz="2400" dirty="0"/>
              <a:t>título; </a:t>
            </a:r>
          </a:p>
          <a:p>
            <a:r>
              <a:rPr lang="pt-BR" sz="2400" dirty="0"/>
              <a:t>codificação; </a:t>
            </a:r>
          </a:p>
          <a:p>
            <a:r>
              <a:rPr lang="pt-BR" sz="2400" dirty="0"/>
              <a:t>links CSS. </a:t>
            </a:r>
          </a:p>
          <a:p>
            <a:r>
              <a:rPr lang="pt-BR" sz="2400" b="1" dirty="0"/>
              <a:t>&lt;body&gt;</a:t>
            </a:r>
            <a:endParaRPr lang="pt-BR" sz="3200" b="1" dirty="0"/>
          </a:p>
          <a:p>
            <a:r>
              <a:rPr lang="pt-BR" sz="2400" dirty="0"/>
              <a:t>Conteúdo exibido ao usuário.</a:t>
            </a:r>
          </a:p>
        </p:txBody>
      </p:sp>
    </p:spTree>
    <p:extLst>
      <p:ext uri="{BB962C8B-B14F-4D97-AF65-F5344CB8AC3E}">
        <p14:creationId xmlns:p14="http://schemas.microsoft.com/office/powerpoint/2010/main" val="1672806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424D-F052-A884-CD83-AB41558C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A0D1F33-07FA-845B-14A0-A5FE8A7F501A}"/>
              </a:ext>
            </a:extLst>
          </p:cNvPr>
          <p:cNvSpPr txBox="1"/>
          <p:nvPr/>
        </p:nvSpPr>
        <p:spPr>
          <a:xfrm>
            <a:off x="1666260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 err="1"/>
              <a:t>Tags</a:t>
            </a:r>
            <a:r>
              <a:rPr lang="pt-BR" sz="3600" dirty="0"/>
              <a:t>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F8B72D-5EFB-3414-0D2D-6CF882201BFB}"/>
              </a:ext>
            </a:extLst>
          </p:cNvPr>
          <p:cNvSpPr txBox="1"/>
          <p:nvPr/>
        </p:nvSpPr>
        <p:spPr>
          <a:xfrm>
            <a:off x="933062" y="1546966"/>
            <a:ext cx="95732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São marcações utilizadas para criar elementos na página.</a:t>
            </a:r>
          </a:p>
          <a:p>
            <a:r>
              <a:rPr lang="pt-BR" sz="2400" b="1" dirty="0"/>
              <a:t>Exemplo</a:t>
            </a:r>
          </a:p>
          <a:p>
            <a:r>
              <a:rPr lang="pt-BR" dirty="0"/>
              <a:t>&lt;p&gt;Texto da página&lt;/p&gt;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63B5284-D1E0-7684-ADED-BBB5F8F40323}"/>
              </a:ext>
            </a:extLst>
          </p:cNvPr>
          <p:cNvSpPr txBox="1"/>
          <p:nvPr/>
        </p:nvSpPr>
        <p:spPr>
          <a:xfrm>
            <a:off x="1105013" y="329050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 err="1"/>
              <a:t>Tags</a:t>
            </a:r>
            <a:r>
              <a:rPr lang="pt-BR" sz="3600" dirty="0"/>
              <a:t> de Títulos (</a:t>
            </a:r>
            <a:r>
              <a:rPr lang="pt-BR" dirty="0"/>
              <a:t>&lt;h1&gt;</a:t>
            </a:r>
            <a:r>
              <a:rPr lang="pt-BR" sz="3600" dirty="0"/>
              <a:t> até </a:t>
            </a:r>
            <a:r>
              <a:rPr lang="pt-BR" dirty="0"/>
              <a:t>&lt;h6&gt;</a:t>
            </a:r>
            <a:r>
              <a:rPr lang="pt-BR" sz="36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CB212A-6D4E-2AAE-7ED9-F735D4EEDC72}"/>
              </a:ext>
            </a:extLst>
          </p:cNvPr>
          <p:cNvSpPr txBox="1"/>
          <p:nvPr/>
        </p:nvSpPr>
        <p:spPr>
          <a:xfrm>
            <a:off x="933062" y="4387704"/>
            <a:ext cx="62856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&lt;h1&gt;Título Principal&lt;/h1&gt;</a:t>
            </a:r>
            <a:br>
              <a:rPr lang="pt-BR" dirty="0"/>
            </a:br>
            <a:r>
              <a:rPr lang="pt-BR" dirty="0"/>
              <a:t>&lt;h2&gt;Subtítulo&lt;/h2&gt;</a:t>
            </a:r>
            <a:br>
              <a:rPr lang="pt-BR" dirty="0"/>
            </a:br>
            <a:r>
              <a:rPr lang="pt-BR" dirty="0"/>
              <a:t>&lt;h3&gt;Título Menor&lt;/h3&gt;</a:t>
            </a:r>
          </a:p>
          <a:p>
            <a:endParaRPr lang="pt-BR" dirty="0"/>
          </a:p>
          <a:p>
            <a:r>
              <a:rPr lang="pt-BR" b="1" dirty="0"/>
              <a:t>Explicação</a:t>
            </a:r>
          </a:p>
          <a:p>
            <a:r>
              <a:rPr lang="pt-BR" dirty="0"/>
              <a:t>&lt;h1&gt; → maior importância; </a:t>
            </a:r>
          </a:p>
          <a:p>
            <a:r>
              <a:rPr lang="pt-BR" dirty="0"/>
              <a:t>&lt;h6&gt; → menor importância.</a:t>
            </a:r>
          </a:p>
        </p:txBody>
      </p:sp>
    </p:spTree>
    <p:extLst>
      <p:ext uri="{BB962C8B-B14F-4D97-AF65-F5344CB8AC3E}">
        <p14:creationId xmlns:p14="http://schemas.microsoft.com/office/powerpoint/2010/main" val="283390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3496-111B-468B-E50A-49AFE27D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43FF6D-F72E-7B50-9348-E765E45561F9}"/>
              </a:ext>
            </a:extLst>
          </p:cNvPr>
          <p:cNvSpPr txBox="1"/>
          <p:nvPr/>
        </p:nvSpPr>
        <p:spPr>
          <a:xfrm>
            <a:off x="1666260" y="211545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Parágrafos (</a:t>
            </a:r>
            <a:r>
              <a:rPr lang="pt-BR" dirty="0"/>
              <a:t>&lt;p&gt;</a:t>
            </a:r>
            <a:r>
              <a:rPr lang="pt-BR" sz="36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296A50-F7B9-98F8-8E46-52DC9F3206B9}"/>
              </a:ext>
            </a:extLst>
          </p:cNvPr>
          <p:cNvSpPr txBox="1"/>
          <p:nvPr/>
        </p:nvSpPr>
        <p:spPr>
          <a:xfrm>
            <a:off x="942874" y="1250616"/>
            <a:ext cx="95732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Texto em parágrafos</a:t>
            </a:r>
          </a:p>
          <a:p>
            <a:r>
              <a:rPr lang="pt-BR" dirty="0"/>
              <a:t>&lt;p&gt;Este é um parágrafo HTML.&lt;/p&gt;</a:t>
            </a:r>
          </a:p>
          <a:p>
            <a:endParaRPr lang="pt-BR" dirty="0"/>
          </a:p>
          <a:p>
            <a:r>
              <a:rPr lang="pt-BR" b="1" dirty="0"/>
              <a:t>Utilizado para:</a:t>
            </a:r>
          </a:p>
          <a:p>
            <a:r>
              <a:rPr lang="pt-BR" dirty="0"/>
              <a:t>descrições; </a:t>
            </a:r>
          </a:p>
          <a:p>
            <a:r>
              <a:rPr lang="pt-BR" dirty="0"/>
              <a:t>conteúdos; </a:t>
            </a:r>
          </a:p>
          <a:p>
            <a:r>
              <a:rPr lang="pt-BR" dirty="0"/>
              <a:t>textos informativos.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2D986B4-FD69-5EED-D2C1-A51427A17E6E}"/>
              </a:ext>
            </a:extLst>
          </p:cNvPr>
          <p:cNvSpPr txBox="1"/>
          <p:nvPr/>
        </p:nvSpPr>
        <p:spPr>
          <a:xfrm>
            <a:off x="633673" y="342900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Quebra de Linha (</a:t>
            </a:r>
            <a:r>
              <a:rPr lang="pt-BR" dirty="0"/>
              <a:t>&lt;</a:t>
            </a:r>
            <a:r>
              <a:rPr lang="pt-BR" dirty="0" err="1"/>
              <a:t>br</a:t>
            </a:r>
            <a:r>
              <a:rPr lang="pt-BR" dirty="0"/>
              <a:t>&gt;</a:t>
            </a:r>
            <a:r>
              <a:rPr lang="pt-BR" sz="36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3A09D7-C4FE-F180-B48E-49A1EF2A2F80}"/>
              </a:ext>
            </a:extLst>
          </p:cNvPr>
          <p:cNvSpPr txBox="1"/>
          <p:nvPr/>
        </p:nvSpPr>
        <p:spPr>
          <a:xfrm>
            <a:off x="524258" y="4245798"/>
            <a:ext cx="957320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Quebra de linha</a:t>
            </a:r>
          </a:p>
          <a:p>
            <a:r>
              <a:rPr lang="pt-BR" dirty="0"/>
              <a:t>Primeira linha&lt;</a:t>
            </a:r>
            <a:r>
              <a:rPr lang="pt-BR" dirty="0" err="1"/>
              <a:t>br</a:t>
            </a:r>
            <a:r>
              <a:rPr lang="pt-BR" dirty="0"/>
              <a:t>&gt;</a:t>
            </a:r>
            <a:br>
              <a:rPr lang="pt-BR" dirty="0"/>
            </a:br>
            <a:r>
              <a:rPr lang="pt-BR" dirty="0"/>
              <a:t>Segunda linha</a:t>
            </a:r>
          </a:p>
          <a:p>
            <a:r>
              <a:rPr lang="pt-BR" sz="2400" b="1" dirty="0"/>
              <a:t>Resultado</a:t>
            </a:r>
          </a:p>
          <a:p>
            <a:r>
              <a:rPr lang="pt-BR" sz="2400" dirty="0"/>
              <a:t>Primeira linha</a:t>
            </a:r>
            <a:br>
              <a:rPr lang="pt-BR" sz="2400" dirty="0"/>
            </a:br>
            <a:r>
              <a:rPr lang="pt-BR" sz="2400" dirty="0"/>
              <a:t>Segunda linha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57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0305-428B-F50C-7064-066E20AB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F3AADFA-0C2C-6670-20CC-FC7B93945821}"/>
              </a:ext>
            </a:extLst>
          </p:cNvPr>
          <p:cNvSpPr txBox="1"/>
          <p:nvPr/>
        </p:nvSpPr>
        <p:spPr>
          <a:xfrm>
            <a:off x="1666260" y="243275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Links (</a:t>
            </a:r>
            <a:r>
              <a:rPr lang="pt-BR" dirty="0"/>
              <a:t>&lt;a&gt;</a:t>
            </a:r>
            <a:r>
              <a:rPr lang="pt-BR" sz="36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214D5B-CBF8-2868-BF89-070BD8C41A72}"/>
              </a:ext>
            </a:extLst>
          </p:cNvPr>
          <p:cNvSpPr txBox="1"/>
          <p:nvPr/>
        </p:nvSpPr>
        <p:spPr>
          <a:xfrm>
            <a:off x="979715" y="1043192"/>
            <a:ext cx="957320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Criando links</a:t>
            </a:r>
          </a:p>
          <a:p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="https://www.google.com"&gt;</a:t>
            </a:r>
            <a:br>
              <a:rPr lang="pt-BR" dirty="0"/>
            </a:br>
            <a:r>
              <a:rPr lang="pt-BR" dirty="0"/>
              <a:t>    Acessar Google</a:t>
            </a:r>
            <a:br>
              <a:rPr lang="pt-BR" dirty="0"/>
            </a:br>
            <a:r>
              <a:rPr lang="pt-BR" dirty="0"/>
              <a:t>&lt;/a&gt;</a:t>
            </a:r>
          </a:p>
          <a:p>
            <a:r>
              <a:rPr lang="pt-BR" sz="2400" b="1" dirty="0"/>
              <a:t>Utilizado para:</a:t>
            </a:r>
          </a:p>
          <a:p>
            <a:r>
              <a:rPr lang="pt-BR" sz="2400" dirty="0"/>
              <a:t>navegar entre páginas; </a:t>
            </a:r>
          </a:p>
          <a:p>
            <a:r>
              <a:rPr lang="pt-BR" sz="2400" dirty="0"/>
              <a:t>acessar sites; </a:t>
            </a:r>
          </a:p>
          <a:p>
            <a:r>
              <a:rPr lang="pt-BR" sz="2400" dirty="0"/>
              <a:t>downloads.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383ABD-52E8-10D9-46EA-61D8350351F0}"/>
              </a:ext>
            </a:extLst>
          </p:cNvPr>
          <p:cNvSpPr txBox="1"/>
          <p:nvPr/>
        </p:nvSpPr>
        <p:spPr>
          <a:xfrm>
            <a:off x="1317405" y="3881926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Imagens (</a:t>
            </a:r>
            <a:r>
              <a:rPr lang="pt-BR" dirty="0"/>
              <a:t>&lt;</a:t>
            </a:r>
            <a:r>
              <a:rPr lang="pt-BR" dirty="0" err="1"/>
              <a:t>img</a:t>
            </a:r>
            <a:r>
              <a:rPr lang="pt-BR" dirty="0"/>
              <a:t>&gt;</a:t>
            </a:r>
            <a:r>
              <a:rPr lang="pt-BR" sz="36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898B09-0783-0BFA-36D8-EF0E290ED727}"/>
              </a:ext>
            </a:extLst>
          </p:cNvPr>
          <p:cNvSpPr txBox="1"/>
          <p:nvPr/>
        </p:nvSpPr>
        <p:spPr>
          <a:xfrm>
            <a:off x="645749" y="4597002"/>
            <a:ext cx="95732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Inserindo imagens</a:t>
            </a:r>
          </a:p>
          <a:p>
            <a:r>
              <a:rPr lang="pt-BR" dirty="0"/>
              <a:t>&lt;</a:t>
            </a:r>
            <a:r>
              <a:rPr lang="pt-BR" dirty="0" err="1"/>
              <a:t>img</a:t>
            </a:r>
            <a:r>
              <a:rPr lang="pt-BR" dirty="0"/>
              <a:t> </a:t>
            </a:r>
            <a:r>
              <a:rPr lang="pt-BR" dirty="0" err="1"/>
              <a:t>src</a:t>
            </a:r>
            <a:r>
              <a:rPr lang="pt-BR" dirty="0"/>
              <a:t>="imagem.jpg" </a:t>
            </a:r>
            <a:r>
              <a:rPr lang="pt-BR" dirty="0" err="1"/>
              <a:t>alt</a:t>
            </a:r>
            <a:r>
              <a:rPr lang="pt-BR" dirty="0"/>
              <a:t>="Descrição"&gt;</a:t>
            </a:r>
          </a:p>
          <a:p>
            <a:r>
              <a:rPr lang="pt-BR" sz="2400" b="1" dirty="0"/>
              <a:t>Explicação</a:t>
            </a:r>
          </a:p>
          <a:p>
            <a:r>
              <a:rPr lang="pt-BR" dirty="0" err="1"/>
              <a:t>src</a:t>
            </a:r>
            <a:r>
              <a:rPr lang="pt-BR" sz="2400" dirty="0"/>
              <a:t> → caminho da imagem; </a:t>
            </a:r>
          </a:p>
          <a:p>
            <a:r>
              <a:rPr lang="pt-BR" dirty="0" err="1"/>
              <a:t>alt</a:t>
            </a:r>
            <a:r>
              <a:rPr lang="pt-BR" sz="2400" dirty="0"/>
              <a:t> → descrição da imagem.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235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9C55-1E26-7124-BBB5-4B20E8AFE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7E286FC-0254-83F5-C2CC-0AC1CF569D0D}"/>
              </a:ext>
            </a:extLst>
          </p:cNvPr>
          <p:cNvSpPr txBox="1"/>
          <p:nvPr/>
        </p:nvSpPr>
        <p:spPr>
          <a:xfrm>
            <a:off x="1666260" y="243275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Divisões (</a:t>
            </a:r>
            <a:r>
              <a:rPr lang="pt-BR" dirty="0"/>
              <a:t>&lt;</a:t>
            </a:r>
            <a:r>
              <a:rPr lang="pt-BR" dirty="0" err="1"/>
              <a:t>div</a:t>
            </a:r>
            <a:r>
              <a:rPr lang="pt-BR" dirty="0"/>
              <a:t>&gt;</a:t>
            </a:r>
            <a:r>
              <a:rPr lang="pt-BR" sz="36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478C34-523F-D15F-E589-CF04EB780C34}"/>
              </a:ext>
            </a:extLst>
          </p:cNvPr>
          <p:cNvSpPr txBox="1"/>
          <p:nvPr/>
        </p:nvSpPr>
        <p:spPr>
          <a:xfrm>
            <a:off x="979715" y="1033667"/>
            <a:ext cx="9573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Organização da página</a:t>
            </a:r>
          </a:p>
          <a:p>
            <a:r>
              <a:rPr lang="pt-BR" dirty="0"/>
              <a:t>&lt;</a:t>
            </a:r>
            <a:r>
              <a:rPr lang="pt-BR" dirty="0" err="1"/>
              <a:t>div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="</a:t>
            </a:r>
            <a:r>
              <a:rPr lang="pt-BR" dirty="0" err="1"/>
              <a:t>border</a:t>
            </a:r>
            <a:r>
              <a:rPr lang="pt-BR" dirty="0"/>
              <a:t>: 2px </a:t>
            </a:r>
            <a:r>
              <a:rPr lang="pt-BR" dirty="0" err="1"/>
              <a:t>solid</a:t>
            </a:r>
            <a:r>
              <a:rPr lang="pt-BR" dirty="0"/>
              <a:t> black</a:t>
            </a:r>
            <a:r>
              <a:rPr lang="pt-BR" u="sng" dirty="0"/>
              <a:t>;"&gt;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    &lt;h1&gt;Área do Sistema&lt;/h1&gt;</a:t>
            </a:r>
            <a:br>
              <a:rPr lang="pt-BR" dirty="0"/>
            </a:br>
            <a:r>
              <a:rPr lang="pt-BR" dirty="0"/>
              <a:t>    &lt;p&gt;Conteúdo interno&lt;/p&gt;</a:t>
            </a:r>
            <a:br>
              <a:rPr lang="pt-BR" dirty="0"/>
            </a:br>
            <a:r>
              <a:rPr lang="pt-BR" dirty="0"/>
              <a:t>&lt;/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r>
              <a:rPr lang="pt-BR" sz="2400" b="1" dirty="0"/>
              <a:t>Utilizado para:</a:t>
            </a:r>
          </a:p>
          <a:p>
            <a:r>
              <a:rPr lang="pt-BR" sz="2400" dirty="0"/>
              <a:t>separar conteúdos; </a:t>
            </a:r>
          </a:p>
          <a:p>
            <a:r>
              <a:rPr lang="pt-BR" sz="2400" dirty="0"/>
              <a:t>criar layouts; </a:t>
            </a:r>
          </a:p>
          <a:p>
            <a:r>
              <a:rPr lang="pt-BR" sz="2400" dirty="0"/>
              <a:t>aplicar CSS.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06499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6B5D-78FD-4BAA-CFE2-1C3CD301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9604997-168D-F63D-130C-EFAB182702E8}"/>
              </a:ext>
            </a:extLst>
          </p:cNvPr>
          <p:cNvSpPr txBox="1"/>
          <p:nvPr/>
        </p:nvSpPr>
        <p:spPr>
          <a:xfrm>
            <a:off x="837585" y="0"/>
            <a:ext cx="9363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Completo (index.html)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B6E5BA-A407-A68B-5FDB-78A1D7F64549}"/>
              </a:ext>
            </a:extLst>
          </p:cNvPr>
          <p:cNvSpPr txBox="1"/>
          <p:nvPr/>
        </p:nvSpPr>
        <p:spPr>
          <a:xfrm>
            <a:off x="1065440" y="646331"/>
            <a:ext cx="9573208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   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</a:p>
          <a:p>
            <a:r>
              <a:rPr lang="pt-BR" dirty="0"/>
              <a:t>    &lt;!--&lt;meta </a:t>
            </a:r>
            <a:r>
              <a:rPr lang="pt-BR" dirty="0" err="1"/>
              <a:t>charset</a:t>
            </a:r>
            <a:r>
              <a:rPr lang="pt-BR" dirty="0"/>
              <a:t>="iso-8859-1"&gt;--&gt;</a:t>
            </a:r>
          </a:p>
          <a:p>
            <a:r>
              <a:rPr lang="pt-BR" dirty="0"/>
              <a:t>    &lt;</a:t>
            </a:r>
            <a:r>
              <a:rPr lang="pt-BR" dirty="0" err="1"/>
              <a:t>title</a:t>
            </a:r>
            <a:r>
              <a:rPr lang="pt-BR" dirty="0"/>
              <a:t>&gt;Minha Página&lt;/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&lt;body&gt;</a:t>
            </a:r>
          </a:p>
          <a:p>
            <a:r>
              <a:rPr lang="pt-BR" dirty="0"/>
              <a:t>    &lt;h1&gt;Minha primeira página HTML&lt;/h1&gt;</a:t>
            </a:r>
          </a:p>
          <a:p>
            <a:r>
              <a:rPr lang="pt-BR" dirty="0"/>
              <a:t>    &lt;!--Comentários--&gt;</a:t>
            </a:r>
          </a:p>
          <a:p>
            <a:r>
              <a:rPr lang="pt-BR" dirty="0"/>
              <a:t>    &lt;p&gt;Bem-vindo ao sistema.&lt;/p&gt;</a:t>
            </a:r>
          </a:p>
          <a:p>
            <a:r>
              <a:rPr lang="pt-BR" dirty="0"/>
              <a:t>    &lt;a </a:t>
            </a:r>
            <a:r>
              <a:rPr lang="pt-BR" dirty="0" err="1"/>
              <a:t>href</a:t>
            </a:r>
            <a:r>
              <a:rPr lang="pt-BR" dirty="0"/>
              <a:t>="#"&gt;Entrar&lt;/a&gt;</a:t>
            </a:r>
          </a:p>
          <a:p>
            <a:r>
              <a:rPr lang="pt-BR" dirty="0"/>
              <a:t>    &lt;</a:t>
            </a:r>
            <a:r>
              <a:rPr lang="pt-BR" dirty="0" err="1"/>
              <a:t>br</a:t>
            </a:r>
            <a:r>
              <a:rPr lang="pt-BR" dirty="0"/>
              <a:t>&gt;&lt;</a:t>
            </a:r>
            <a:r>
              <a:rPr lang="pt-BR" dirty="0" err="1"/>
              <a:t>br</a:t>
            </a:r>
            <a:r>
              <a:rPr lang="pt-BR" dirty="0"/>
              <a:t>/&gt;</a:t>
            </a:r>
          </a:p>
          <a:p>
            <a:r>
              <a:rPr lang="pt-BR" sz="1600" dirty="0"/>
              <a:t>    &lt;</a:t>
            </a:r>
            <a:r>
              <a:rPr lang="pt-BR" sz="1600" dirty="0" err="1"/>
              <a:t>div</a:t>
            </a:r>
            <a:r>
              <a:rPr lang="pt-BR" sz="1600" dirty="0"/>
              <a:t> </a:t>
            </a:r>
            <a:r>
              <a:rPr lang="pt-BR" sz="1600" dirty="0" err="1"/>
              <a:t>style</a:t>
            </a:r>
            <a:r>
              <a:rPr lang="pt-BR" sz="1600" dirty="0"/>
              <a:t>="</a:t>
            </a:r>
            <a:r>
              <a:rPr lang="pt-BR" sz="1600" dirty="0" err="1"/>
              <a:t>border</a:t>
            </a:r>
            <a:r>
              <a:rPr lang="pt-BR" sz="1600" dirty="0"/>
              <a:t>: 2px </a:t>
            </a:r>
            <a:r>
              <a:rPr lang="pt-BR" sz="1600" dirty="0" err="1"/>
              <a:t>solid</a:t>
            </a:r>
            <a:r>
              <a:rPr lang="pt-BR" sz="1600" dirty="0"/>
              <a:t> black;"&gt;</a:t>
            </a:r>
          </a:p>
          <a:p>
            <a:r>
              <a:rPr lang="pt-BR" sz="1600" dirty="0"/>
              <a:t>        &lt;h1&gt;Área do Sistema&lt;/h1&gt;</a:t>
            </a:r>
          </a:p>
          <a:p>
            <a:r>
              <a:rPr lang="pt-BR" sz="1600" dirty="0"/>
              <a:t>        &lt;p&gt;Conteúdo interno&lt;/p&gt;</a:t>
            </a:r>
          </a:p>
          <a:p>
            <a:r>
              <a:rPr lang="pt-BR" sz="1600" dirty="0"/>
              <a:t>    &lt;/</a:t>
            </a:r>
            <a:r>
              <a:rPr lang="pt-BR" sz="1600" dirty="0" err="1"/>
              <a:t>div</a:t>
            </a:r>
            <a:r>
              <a:rPr lang="pt-BR" sz="1600" dirty="0"/>
              <a:t>&gt;</a:t>
            </a:r>
            <a:endParaRPr lang="pt-BR" dirty="0"/>
          </a:p>
          <a:p>
            <a:r>
              <a:rPr lang="pt-BR" dirty="0"/>
              <a:t>    </a:t>
            </a:r>
            <a:r>
              <a:rPr lang="pt-BR" sz="1600" dirty="0"/>
              <a:t>&lt;</a:t>
            </a:r>
            <a:r>
              <a:rPr lang="pt-BR" sz="1600" dirty="0" err="1"/>
              <a:t>img</a:t>
            </a:r>
            <a:r>
              <a:rPr lang="pt-BR" sz="1600" dirty="0"/>
              <a:t> </a:t>
            </a:r>
            <a:r>
              <a:rPr lang="pt-BR" sz="1600" dirty="0" err="1"/>
              <a:t>src</a:t>
            </a:r>
            <a:r>
              <a:rPr lang="pt-BR" sz="1600" dirty="0"/>
              <a:t>="logo.jpg" </a:t>
            </a:r>
            <a:r>
              <a:rPr lang="pt-BR" sz="1600" dirty="0" err="1"/>
              <a:t>alt</a:t>
            </a:r>
            <a:r>
              <a:rPr lang="pt-BR" sz="1600" dirty="0"/>
              <a:t>="Logo da empresa" </a:t>
            </a:r>
            <a:r>
              <a:rPr lang="pt-BR" sz="1600" dirty="0" err="1"/>
              <a:t>title</a:t>
            </a:r>
            <a:r>
              <a:rPr lang="pt-BR" sz="1600" dirty="0"/>
              <a:t>="Esta é a logo da empresa"&gt;    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4836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1024821"/>
            <a:ext cx="9083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Criar uma página de apresentação de um sistema desenvolvido em Java.</a:t>
            </a:r>
          </a:p>
          <a:p>
            <a:r>
              <a:rPr lang="pt-BR" b="1" dirty="0" err="1"/>
              <a:t>Ex</a:t>
            </a:r>
            <a:r>
              <a:rPr lang="pt-BR" b="1" dirty="0"/>
              <a:t>: Pode ser de cadastro de pessoas</a:t>
            </a:r>
          </a:p>
          <a:p>
            <a:endParaRPr lang="pt-BR" b="1" dirty="0"/>
          </a:p>
          <a:p>
            <a:r>
              <a:rPr lang="pt-BR" b="1" dirty="0"/>
              <a:t>Desenvolver uma página contendo:</a:t>
            </a:r>
          </a:p>
          <a:p>
            <a:r>
              <a:rPr lang="pt-BR" dirty="0"/>
              <a:t>título principal; </a:t>
            </a:r>
          </a:p>
          <a:p>
            <a:r>
              <a:rPr lang="pt-BR" dirty="0"/>
              <a:t>texto de apresentação; </a:t>
            </a:r>
          </a:p>
          <a:p>
            <a:r>
              <a:rPr lang="pt-BR" dirty="0"/>
              <a:t>imagem; </a:t>
            </a:r>
          </a:p>
          <a:p>
            <a:r>
              <a:rPr lang="pt-BR" dirty="0"/>
              <a:t>link; </a:t>
            </a:r>
          </a:p>
          <a:p>
            <a:r>
              <a:rPr lang="pt-BR" dirty="0"/>
              <a:t>divisão com &lt;</a:t>
            </a:r>
            <a:r>
              <a:rPr lang="pt-BR" dirty="0" err="1"/>
              <a:t>div</a:t>
            </a:r>
            <a:r>
              <a:rPr lang="pt-BR" dirty="0"/>
              <a:t>&gt;.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05743" y="1104291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Revisão conceito de front-</a:t>
            </a:r>
            <a:r>
              <a:rPr lang="pt-BR" sz="2400" dirty="0" err="1"/>
              <a:t>end</a:t>
            </a:r>
            <a:r>
              <a:rPr lang="pt-BR" sz="2400" dirty="0"/>
              <a:t> e </a:t>
            </a:r>
            <a:r>
              <a:rPr lang="pt-BR" sz="2400" dirty="0" err="1"/>
              <a:t>back-end</a:t>
            </a:r>
            <a:r>
              <a:rPr lang="pt-BR" sz="2400" dirty="0"/>
              <a:t/>
            </a:r>
            <a:br>
              <a:rPr lang="pt-BR" sz="2400" dirty="0"/>
            </a:br>
            <a:r>
              <a:rPr lang="pt-BR" sz="2400" dirty="0"/>
              <a:t>✔ Relação HTML, CSS e Java</a:t>
            </a:r>
            <a:br>
              <a:rPr lang="pt-BR" sz="2400" dirty="0"/>
            </a:br>
            <a:r>
              <a:rPr lang="pt-BR" sz="2400" dirty="0"/>
              <a:t>✔ Estrutura HTML</a:t>
            </a:r>
            <a:br>
              <a:rPr lang="pt-BR" sz="2400" dirty="0"/>
            </a:br>
            <a:r>
              <a:rPr lang="pt-BR" sz="2400" dirty="0"/>
              <a:t>✔ Principais </a:t>
            </a:r>
            <a:r>
              <a:rPr lang="pt-BR" sz="2400" dirty="0" err="1"/>
              <a:t>tags</a:t>
            </a:r>
            <a:r>
              <a:rPr lang="pt-BR" sz="2400" dirty="0"/>
              <a:t> HTML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634</TotalTime>
  <Words>539</Words>
  <Application>Microsoft Office PowerPoint</Application>
  <PresentationFormat>Widescreen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James Kuehl</dc:creator>
  <cp:lastModifiedBy>Júlio Ravizza</cp:lastModifiedBy>
  <cp:revision>139</cp:revision>
  <dcterms:created xsi:type="dcterms:W3CDTF">2026-03-07T12:30:21Z</dcterms:created>
  <dcterms:modified xsi:type="dcterms:W3CDTF">2026-05-18T22:41:33Z</dcterms:modified>
</cp:coreProperties>
</file>